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58" r:id="rId3"/>
    <p:sldId id="316" r:id="rId4"/>
    <p:sldId id="318" r:id="rId5"/>
    <p:sldId id="259" r:id="rId6"/>
    <p:sldId id="319" r:id="rId7"/>
    <p:sldId id="261" r:id="rId8"/>
    <p:sldId id="262" r:id="rId9"/>
    <p:sldId id="263" r:id="rId10"/>
    <p:sldId id="320" r:id="rId11"/>
    <p:sldId id="294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140" autoAdjust="0"/>
  </p:normalViewPr>
  <p:slideViewPr>
    <p:cSldViewPr snapToGrid="0">
      <p:cViewPr varScale="1">
        <p:scale>
          <a:sx n="78" d="100"/>
          <a:sy n="78" d="100"/>
        </p:scale>
        <p:origin x="6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FBB93-A3E9-4BCC-92F2-9C4FA7E21CE8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CF4884-A87B-425D-84FE-10B48FE79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4001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5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1918B-CFF2-4B77-8A90-3F460A29A542}" type="slidenum">
              <a:rPr lang="fr-CM" smtClean="0"/>
              <a:t>1</a:t>
            </a:fld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1797916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1918B-CFF2-4B77-8A90-3F460A29A542}" type="slidenum">
              <a:rPr lang="fr-CM" smtClean="0"/>
              <a:t>2</a:t>
            </a:fld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3661478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BAE31-729D-97DB-8E46-6149B67F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EA253D-0E1F-F0B2-4A92-32F286AF7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B835C4-8C04-73DA-1741-3BCACCD2C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7767B0-9523-1F96-8158-A9BB883BD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1918B-CFF2-4B77-8A90-3F460A29A542}" type="slidenum">
              <a:rPr lang="fr-CM" smtClean="0"/>
              <a:t>3</a:t>
            </a:fld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2476195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2A5D9-AFA0-1A02-E9AE-073E6D398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4DDE209-CA6C-4F5F-17AF-7643898A3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F52BAE3-A9A5-1C9F-027F-81ABC7B7E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966DB3-3586-B44C-5BA7-FC7B4DEC6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1918B-CFF2-4B77-8A90-3F460A29A542}" type="slidenum">
              <a:rPr lang="fr-CM" smtClean="0"/>
              <a:t>4</a:t>
            </a:fld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2862790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F91D8-076C-47C4-BBD0-BBFCF6E39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DB440-861B-B11A-82E6-BB4303558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5987B-4313-C6B7-7AA6-1DE6F56F5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28FF5-EABB-6BF6-0E6E-6BE02A2454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42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4B581-B3A3-D46D-E27B-1E64801B7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FC9EA-E2EE-D23F-F574-0A8CF6B48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15C7D-B644-D60F-E17C-95E357C1E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ECA8C-A3CA-8F6C-B4CF-D22A019F6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30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1918B-CFF2-4B77-8A90-3F460A29A542}" type="slidenum">
              <a:rPr lang="fr-CM" smtClean="0"/>
              <a:t>11</a:t>
            </a:fld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236581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8890BA-F263-40FB-9138-4087188B5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A724261-3C62-431E-9B2C-DA4F8E831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53287B-06CB-4070-9F6F-091875C7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CE73-B596-4751-BBA6-0EBFB293AB7F}" type="datetime1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30449A-DC81-477B-9C66-C270B2E7F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1375D1-E17E-4E59-A6EA-858EA5F8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8050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64DEA4-4E38-4ECD-ADC8-B641EFDE9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D64D78-9E1C-4931-9973-63E60247A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79C649-880C-44A3-904D-EBF79376E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D5FDB-623B-40CE-BB1A-D89141A51268}" type="datetime1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82C7D7-C1B3-4EA4-B11B-DACCF1D4C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99843A-4EA9-4939-83D2-76DC33B3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8066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237E79-B048-4A5B-AD24-75152C58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8BC76A-B9F8-4FEA-9760-E1E22FA7E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3AC451-B2F8-4F6F-ADD5-80B36677D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6099A-38C3-4CF0-B731-9B080E4F28FD}" type="datetime1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9B9930-1049-4A1F-990E-7E0AB223D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946008-C277-495F-8F73-0FAB943A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138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0E6296-D1FD-4DF7-B211-B4E14E2B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8FEC9B-3F50-4DAD-AF03-65508D8CB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2CAF75-3EF2-4CDD-9F7A-3C0B866E1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30731D-68AD-49B4-9D27-07ACA8144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6F559-52A7-4229-BA38-A7B9BD8FF17B}" type="datetime1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074F07-0F55-411A-9A56-73D292A6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4E847A-EE68-4B56-802A-ADC470B0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39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40C49A-E6ED-498F-ADE9-CF7D7280D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581DB5-F420-4862-9BCC-1C3751D11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841D47-77DB-4B0F-8E25-6F13EB0E1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AEC1ADF-CB22-439D-A48B-64C58F132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FAD0717-F53A-48E3-BE15-AD0AAB06E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50C6E16-74F5-4C51-A5C2-F65D7FF9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72495-E2DF-46C4-A834-E15C7D92E163}" type="datetime1">
              <a:rPr lang="fr-FR" smtClean="0"/>
              <a:t>15/09/2026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A30ABC1-FDB9-430B-9CC0-CBC6E10A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606B12B-3272-4CD4-B9B2-56F41B9D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3726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F2A61D-F7EC-45CF-8583-F76E7395C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18D4C08-41AC-406C-8F99-BCFAE4ABE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078E-1BBB-4A8D-9970-AEFC03F9732D}" type="datetime1">
              <a:rPr lang="fr-FR" smtClean="0"/>
              <a:t>15/09/2026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ED72DA8-8813-4ADA-9F4C-4FB0DC61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9706A4-BCC9-494F-9918-5A0C9F99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499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3D854FE-0285-465F-806E-D323F6D4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04CC6-0980-4473-89C5-202DC8965010}" type="datetime1">
              <a:rPr lang="fr-FR" smtClean="0"/>
              <a:t>15/09/2026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59D9B34-521F-4868-A66D-366E23F3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E236F0-85F2-469D-90A3-B474D952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7317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95D543-8028-430C-8FFB-7290992C1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67624A-CAF5-40C4-8893-80472A55E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A84AC0-C13C-4BF4-8FAA-59BDF1E50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D67FAF-2CB7-40F4-B6BA-07E344EAE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7099-AEE4-4832-903A-A587D2FA296A}" type="datetime1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4B50F5-1234-4461-B09E-774464A1B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C96E8D3-3297-42F6-AFE8-ACF4AC9D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6420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92F18C-C13B-4CD0-84AF-EFBF69C7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D8DFF1F-F5B3-42CF-BCE9-FFD0C2B2F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A2066E-92F0-416E-8B98-F8809E8C7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1FA8CE-1819-4A11-AA13-564FE7A4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45EC3-B6E3-4053-9787-534A3BA241D1}" type="datetime1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6466B9-99C9-46A4-86D2-6381AAD0F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F8FE4F-01B1-48D7-AB29-CD47989EF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0907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997773-D425-414F-9FC7-7750755F4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37E0156-DC85-47E2-87FF-50784DBA1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564347-56F2-4EB1-A948-08B78ACD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FC30D-3514-4AAE-BAD2-49B3376B24B7}" type="datetime1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21FB64-88CB-4108-B070-32D2F24D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4600D1-B5A2-4C18-B735-5F9603F6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75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2C2003F-3B38-48F3-B299-53065BB50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D711F52-5BD9-42DD-9723-73B23A493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C2A907-2984-4A12-AEAD-403A748BC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FD3CF-F309-4C9A-9CDD-7F976F8E7C40}" type="datetime1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A3F037-614B-4F8B-80B6-09C73804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E4FE0-9DFC-43DD-90EA-59C43E3E5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4891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967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E9BD108-E7A1-4316-92A6-648F99ED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BD80FAF-72BB-4C6A-A2FB-C6F2461A1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096221-D192-42F7-A938-A07A8321A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7DD20-5EA6-43AC-9BE2-01C9EAA8CDF5}" type="datetime1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6DA678-BEFB-47B2-8682-30DCF9971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B4DEF7-FED1-4273-8A58-528D93CFA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A7091-84B4-4BFC-9E12-327F477830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3618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hyperlink" Target="https://creativecommons.org/licenses/by-nc/3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eepngimg.com/png/14614-presentation-download-png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onlinelibrary.wiley.com/authored-by/Bender/Andreas" TargetMode="External"/><Relationship Id="rId3" Type="http://schemas.openxmlformats.org/officeDocument/2006/relationships/image" Target="../media/image2.svg"/><Relationship Id="rId7" Type="http://schemas.openxmlformats.org/officeDocument/2006/relationships/hyperlink" Target="https://onlinelibrary.wiley.com/authored-by/Burk/Luka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6.jpeg"/><Relationship Id="rId4" Type="http://schemas.openxmlformats.org/officeDocument/2006/relationships/image" Target="../media/image1.svg"/><Relationship Id="rId9" Type="http://schemas.openxmlformats.org/officeDocument/2006/relationships/hyperlink" Target="https://onlinelibrary.wiley.com/authored-by/Wright/Marvin+N.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hyperlink" Target="https://creativecommons.org/licenses/by-nc/3.0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eepngimg.com/png/14614-presentation-download-png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hyperlink" Target="https://creativecommons.org/licenses/by-nc/3.0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eepngimg.com/png/14614-presentation-download-png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2.sv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onlinelibrary.wiley.com/doi/10.1002/bimj.70036#bimj70036-bib-0015" TargetMode="External"/><Relationship Id="rId3" Type="http://schemas.openxmlformats.org/officeDocument/2006/relationships/image" Target="../media/image1.svg"/><Relationship Id="rId7" Type="http://schemas.openxmlformats.org/officeDocument/2006/relationships/hyperlink" Target="https://creativecommons.org/licenses/by-nc/3.0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eepngimg.com/png/14614-presentation-download-png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hyperlink" Target="https://onlinelibrary.wiley.com/doi/10.1002/bimj.70036#bimj70036-bib-000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61">
            <a:extLst>
              <a:ext uri="{FF2B5EF4-FFF2-40B4-BE49-F238E27FC236}">
                <a16:creationId xmlns:a16="http://schemas.microsoft.com/office/drawing/2014/main" id="{5E93A798-958F-F83C-8AF1-D14D761AD76D}"/>
              </a:ext>
            </a:extLst>
          </p:cNvPr>
          <p:cNvSpPr/>
          <p:nvPr/>
        </p:nvSpPr>
        <p:spPr>
          <a:xfrm rot="5400000">
            <a:off x="-3236404" y="4111618"/>
            <a:ext cx="10003955" cy="1194"/>
          </a:xfrm>
          <a:prstGeom prst="line">
            <a:avLst/>
          </a:prstGeom>
          <a:ln w="57150" cap="flat">
            <a:solidFill>
              <a:srgbClr val="CD76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EC27D2D5-5AC9-3110-3DB3-E18D785214AD}"/>
              </a:ext>
            </a:extLst>
          </p:cNvPr>
          <p:cNvSpPr/>
          <p:nvPr/>
        </p:nvSpPr>
        <p:spPr>
          <a:xfrm rot="5400000" flipH="1">
            <a:off x="-1329507" y="2511191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id="{64F74B53-F31B-4D5F-D1A2-4357E7072A5F}"/>
              </a:ext>
            </a:extLst>
          </p:cNvPr>
          <p:cNvGrpSpPr/>
          <p:nvPr/>
        </p:nvGrpSpPr>
        <p:grpSpPr>
          <a:xfrm>
            <a:off x="0" y="1054171"/>
            <a:ext cx="13288906" cy="91191"/>
            <a:chOff x="0" y="0"/>
            <a:chExt cx="5249938" cy="3602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33821C98-B310-E49A-67D7-3256684B3110}"/>
                </a:ext>
              </a:extLst>
            </p:cNvPr>
            <p:cNvSpPr/>
            <p:nvPr/>
          </p:nvSpPr>
          <p:spPr>
            <a:xfrm>
              <a:off x="0" y="0"/>
              <a:ext cx="5249938" cy="36026"/>
            </a:xfrm>
            <a:custGeom>
              <a:avLst/>
              <a:gdLst/>
              <a:ahLst/>
              <a:cxnLst/>
              <a:rect l="l" t="t" r="r" b="b"/>
              <a:pathLst>
                <a:path w="5249938" h="36026">
                  <a:moveTo>
                    <a:pt x="0" y="0"/>
                  </a:moveTo>
                  <a:lnTo>
                    <a:pt x="5249938" y="0"/>
                  </a:lnTo>
                  <a:lnTo>
                    <a:pt x="5249938" y="36026"/>
                  </a:lnTo>
                  <a:lnTo>
                    <a:pt x="0" y="36026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/>
            <a:lstStyle/>
            <a:p>
              <a:endParaRPr lang="fr-CM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6">
              <a:extLst>
                <a:ext uri="{FF2B5EF4-FFF2-40B4-BE49-F238E27FC236}">
                  <a16:creationId xmlns:a16="http://schemas.microsoft.com/office/drawing/2014/main" id="{F81A1B34-6E5B-2D17-0677-E18D49EB6FBC}"/>
                </a:ext>
              </a:extLst>
            </p:cNvPr>
            <p:cNvSpPr txBox="1"/>
            <p:nvPr/>
          </p:nvSpPr>
          <p:spPr>
            <a:xfrm>
              <a:off x="0" y="-38100"/>
              <a:ext cx="5249938" cy="741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Freeform 2"/>
          <p:cNvSpPr/>
          <p:nvPr/>
        </p:nvSpPr>
        <p:spPr>
          <a:xfrm rot="10733564" flipH="1">
            <a:off x="-687227" y="-124353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8080187" y="3425645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812A1279-CC5C-EDD9-B5A9-8B459282C9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rot="5400000">
            <a:off x="628447" y="1111265"/>
            <a:ext cx="837030" cy="1038751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C5D4E8DD-86F0-6946-D1FA-9B5DA98B08F0}"/>
              </a:ext>
            </a:extLst>
          </p:cNvPr>
          <p:cNvSpPr txBox="1"/>
          <p:nvPr/>
        </p:nvSpPr>
        <p:spPr>
          <a:xfrm>
            <a:off x="-2143979" y="28470025"/>
            <a:ext cx="8371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600" dirty="0">
                <a:latin typeface="Arial" panose="020B0604020202020204" pitchFamily="34" charset="0"/>
                <a:cs typeface="Arial" panose="020B0604020202020204" pitchFamily="34" charset="0"/>
                <a:hlinkClick r:id="rId6" tooltip="https://freepngimg.com/png/14614-presentation-download-png"/>
              </a:rPr>
              <a:t>Cette photo</a:t>
            </a:r>
            <a:r>
              <a:rPr lang="fr-CM" sz="600" dirty="0">
                <a:latin typeface="Arial" panose="020B0604020202020204" pitchFamily="34" charset="0"/>
                <a:cs typeface="Arial" panose="020B0604020202020204" pitchFamily="34" charset="0"/>
              </a:rPr>
              <a:t> par Auteur inconnu est soumise à la licence </a:t>
            </a:r>
            <a:r>
              <a:rPr lang="fr-CM" sz="600" dirty="0">
                <a:latin typeface="Arial" panose="020B0604020202020204" pitchFamily="34" charset="0"/>
                <a:cs typeface="Arial" panose="020B0604020202020204" pitchFamily="34" charset="0"/>
                <a:hlinkClick r:id="rId7" tooltip="https://creativecommons.org/licenses/by-nc/3.0/"/>
              </a:rPr>
              <a:t>CC BY-NC</a:t>
            </a:r>
            <a:endParaRPr lang="fr-CM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17">
            <a:extLst>
              <a:ext uri="{FF2B5EF4-FFF2-40B4-BE49-F238E27FC236}">
                <a16:creationId xmlns:a16="http://schemas.microsoft.com/office/drawing/2014/main" id="{DAB87F34-E647-4310-5559-5B18C71A02B2}"/>
              </a:ext>
            </a:extLst>
          </p:cNvPr>
          <p:cNvSpPr txBox="1"/>
          <p:nvPr/>
        </p:nvSpPr>
        <p:spPr>
          <a:xfrm rot="5400000">
            <a:off x="-1038524" y="4132833"/>
            <a:ext cx="3898435" cy="343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800" dirty="0">
                <a:solidFill>
                  <a:srgbClr val="012F7F"/>
                </a:solidFill>
                <a:latin typeface="Georgia" panose="02040502050405020303" pitchFamily="18" charset="0"/>
                <a:cs typeface="Arial" panose="020B0604020202020204" pitchFamily="34" charset="0"/>
                <a:sym typeface="ITC Benguiat Bold"/>
              </a:rPr>
              <a:t>PRESENTATION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6D6F90F-6FDB-1E09-080E-42230FF1476B}"/>
              </a:ext>
            </a:extLst>
          </p:cNvPr>
          <p:cNvSpPr txBox="1"/>
          <p:nvPr/>
        </p:nvSpPr>
        <p:spPr>
          <a:xfrm>
            <a:off x="2010095" y="1363151"/>
            <a:ext cx="9347537" cy="5300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640"/>
              </a:lnSpc>
              <a:buFont typeface="Wingdings" panose="05000000000000000000" pitchFamily="2" charset="2"/>
              <a:buChar char="q"/>
            </a:pPr>
            <a:r>
              <a:rPr lang="fr-FR" sz="2000" b="1" dirty="0">
                <a:latin typeface="Georgia" panose="02040502050405020303" pitchFamily="18" charset="0"/>
                <a:sym typeface="ITC Benguiat Bold"/>
              </a:rPr>
              <a:t>Formation: </a:t>
            </a:r>
            <a:r>
              <a:rPr lang="fr-FR" sz="2000" dirty="0">
                <a:latin typeface="Georgia" panose="02040502050405020303" pitchFamily="18" charset="0"/>
                <a:sym typeface="ITC Benguiat Bold"/>
              </a:rPr>
              <a:t>Master en Mathématiques et Applications : Parcours Ingénierie Mathématiques et Biostatistiques</a:t>
            </a:r>
          </a:p>
          <a:p>
            <a:pPr marL="800100" lvl="1" indent="-342900">
              <a:lnSpc>
                <a:spcPts val="2640"/>
              </a:lnSpc>
              <a:buFont typeface="Wingdings" panose="05000000000000000000" pitchFamily="2" charset="2"/>
              <a:buChar char="Ø"/>
            </a:pPr>
            <a:r>
              <a:rPr lang="fr-FR" sz="2000" dirty="0">
                <a:latin typeface="Georgia" panose="02040502050405020303" pitchFamily="18" charset="0"/>
                <a:sym typeface="ITC Benguiat Bold"/>
              </a:rPr>
              <a:t>Licence en Statistique : Option Modélisation et Analyse des données</a:t>
            </a:r>
          </a:p>
          <a:p>
            <a:pPr marL="285750" indent="-285750">
              <a:lnSpc>
                <a:spcPts val="2640"/>
              </a:lnSpc>
              <a:buFont typeface="Wingdings" panose="05000000000000000000" pitchFamily="2" charset="2"/>
              <a:buChar char="q"/>
            </a:pPr>
            <a:endParaRPr lang="fr-FR" sz="2000" dirty="0">
              <a:latin typeface="Georgia" panose="02040502050405020303" pitchFamily="18" charset="0"/>
              <a:sym typeface="ITC Benguiat Bold"/>
            </a:endParaRPr>
          </a:p>
          <a:p>
            <a:pPr marL="285750" indent="-285750">
              <a:lnSpc>
                <a:spcPts val="2640"/>
              </a:lnSpc>
              <a:buFont typeface="Wingdings" panose="05000000000000000000" pitchFamily="2" charset="2"/>
              <a:buChar char="q"/>
            </a:pPr>
            <a:r>
              <a:rPr lang="fr-FR" sz="2000" b="1" dirty="0">
                <a:latin typeface="Georgia" panose="02040502050405020303" pitchFamily="18" charset="0"/>
              </a:rPr>
              <a:t>Expériences Académiques</a:t>
            </a:r>
            <a:r>
              <a:rPr lang="fr-FR" sz="2000" dirty="0">
                <a:latin typeface="Georgia" panose="02040502050405020303" pitchFamily="18" charset="0"/>
              </a:rPr>
              <a:t>: </a:t>
            </a:r>
          </a:p>
          <a:p>
            <a:pPr marL="742950" lvl="1" indent="-285750">
              <a:lnSpc>
                <a:spcPts val="2640"/>
              </a:lnSpc>
              <a:buFont typeface="Wingdings" panose="05000000000000000000" pitchFamily="2" charset="2"/>
              <a:buChar char="q"/>
            </a:pPr>
            <a:r>
              <a:rPr lang="fr-FR" sz="2000" dirty="0">
                <a:latin typeface="Georgia" panose="02040502050405020303" pitchFamily="18" charset="0"/>
              </a:rPr>
              <a:t>Projet tutoré en sélection des variables en grande dimension</a:t>
            </a:r>
          </a:p>
          <a:p>
            <a:pPr marL="742950" lvl="1" indent="-285750">
              <a:lnSpc>
                <a:spcPts val="2640"/>
              </a:lnSpc>
              <a:buFont typeface="Wingdings" panose="05000000000000000000" pitchFamily="2" charset="2"/>
              <a:buChar char="q"/>
            </a:pPr>
            <a:r>
              <a:rPr lang="fr-FR" sz="2000" dirty="0">
                <a:latin typeface="Georgia" panose="02040502050405020303" pitchFamily="18" charset="0"/>
              </a:rPr>
              <a:t>Projet en Analyse de Survie</a:t>
            </a:r>
          </a:p>
          <a:p>
            <a:pPr>
              <a:lnSpc>
                <a:spcPts val="2640"/>
              </a:lnSpc>
            </a:pPr>
            <a:endParaRPr lang="fr-FR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ts val="2640"/>
              </a:lnSpc>
              <a:buFont typeface="Wingdings" panose="05000000000000000000" pitchFamily="2" charset="2"/>
              <a:buChar char="q"/>
            </a:pPr>
            <a:r>
              <a:rPr lang="fr-FR" sz="2000" b="1" dirty="0">
                <a:latin typeface="Georgia" panose="02040502050405020303" pitchFamily="18" charset="0"/>
                <a:sym typeface="ITC Benguiat Bold"/>
              </a:rPr>
              <a:t>Stages</a:t>
            </a:r>
            <a:r>
              <a:rPr lang="fr-FR" sz="2000" dirty="0">
                <a:latin typeface="Georgia" panose="02040502050405020303" pitchFamily="18" charset="0"/>
                <a:sym typeface="ITC Benguiat Bold"/>
              </a:rPr>
              <a:t>: </a:t>
            </a:r>
          </a:p>
          <a:p>
            <a:pPr marL="742950" lvl="1" indent="-285750">
              <a:lnSpc>
                <a:spcPts val="2640"/>
              </a:lnSpc>
              <a:buFont typeface="Wingdings" panose="05000000000000000000" pitchFamily="2" charset="2"/>
              <a:buChar char="q"/>
            </a:pPr>
            <a:r>
              <a:rPr lang="fr-FR" sz="2000" dirty="0">
                <a:latin typeface="Georgia" panose="02040502050405020303" pitchFamily="18" charset="0"/>
                <a:sym typeface="ITC Benguiat Bold"/>
              </a:rPr>
              <a:t>Stage de M2  recherche appliqué en Biostatistique à l’ANSES</a:t>
            </a:r>
            <a:endParaRPr lang="fr-FR" sz="2000" dirty="0">
              <a:latin typeface="Georgia" panose="02040502050405020303" pitchFamily="18" charset="0"/>
            </a:endParaRPr>
          </a:p>
          <a:p>
            <a:pPr marL="742950" lvl="1" indent="-285750">
              <a:lnSpc>
                <a:spcPts val="2640"/>
              </a:lnSpc>
              <a:buFont typeface="Wingdings" panose="05000000000000000000" pitchFamily="2" charset="2"/>
              <a:buChar char="q"/>
            </a:pPr>
            <a:r>
              <a:rPr lang="fr-FR" sz="2000" dirty="0">
                <a:latin typeface="Georgia" panose="02040502050405020303" pitchFamily="18" charset="0"/>
              </a:rPr>
              <a:t>Stage de Licence en Statistiques à EGPAF</a:t>
            </a:r>
          </a:p>
          <a:p>
            <a:pPr lvl="1">
              <a:lnSpc>
                <a:spcPts val="2640"/>
              </a:lnSpc>
            </a:pPr>
            <a:endParaRPr lang="fr-FR" sz="2000" dirty="0">
              <a:latin typeface="Georgia" panose="02040502050405020303" pitchFamily="18" charset="0"/>
            </a:endParaRPr>
          </a:p>
          <a:p>
            <a:pPr marL="342900" indent="-342900">
              <a:lnSpc>
                <a:spcPts val="2640"/>
              </a:lnSpc>
              <a:buFont typeface="Wingdings" panose="05000000000000000000" pitchFamily="2" charset="2"/>
              <a:buChar char="q"/>
            </a:pPr>
            <a:r>
              <a:rPr lang="fr-FR" sz="2000" b="1" dirty="0">
                <a:latin typeface="Georgia" panose="02040502050405020303" pitchFamily="18" charset="0"/>
                <a:sym typeface="ITC Benguiat Bold"/>
              </a:rPr>
              <a:t>Profil/ compétences</a:t>
            </a:r>
            <a:r>
              <a:rPr lang="fr-FR" sz="2000" dirty="0">
                <a:latin typeface="Georgia" panose="02040502050405020303" pitchFamily="18" charset="0"/>
                <a:sym typeface="ITC Benguiat Bold"/>
              </a:rPr>
              <a:t>: Sélection des variables , R (avancée), Analyse de Survie</a:t>
            </a:r>
          </a:p>
          <a:p>
            <a:pPr>
              <a:lnSpc>
                <a:spcPts val="2640"/>
              </a:lnSpc>
            </a:pPr>
            <a:endParaRPr lang="fr-FR" sz="1667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815" indent="-304815">
              <a:lnSpc>
                <a:spcPts val="2640"/>
              </a:lnSpc>
              <a:buFont typeface="Wingdings" panose="05000000000000000000" pitchFamily="2" charset="2"/>
              <a:buChar char="q"/>
            </a:pPr>
            <a:endParaRPr lang="fr-FR" sz="1667" dirty="0">
              <a:solidFill>
                <a:srgbClr val="000000"/>
              </a:solidFill>
              <a:latin typeface="Arial" panose="020B0604020202020204" pitchFamily="34" charset="0"/>
              <a:ea typeface="ITC Benguiat Bold"/>
              <a:cs typeface="Arial" panose="020B0604020202020204" pitchFamily="34" charset="0"/>
              <a:sym typeface="ITC Benguiat Bold"/>
            </a:endParaRPr>
          </a:p>
          <a:p>
            <a:pPr marL="304815" indent="-304815">
              <a:lnSpc>
                <a:spcPts val="2640"/>
              </a:lnSpc>
              <a:buFont typeface="Wingdings" panose="05000000000000000000" pitchFamily="2" charset="2"/>
              <a:buChar char="q"/>
            </a:pPr>
            <a:endParaRPr lang="en-US" sz="1667" dirty="0">
              <a:solidFill>
                <a:srgbClr val="012F7F"/>
              </a:solidFill>
              <a:latin typeface="Arial" panose="020B0604020202020204" pitchFamily="34" charset="0"/>
              <a:ea typeface="ITC Benguiat Bold"/>
              <a:cs typeface="Arial" panose="020B0604020202020204" pitchFamily="34" charset="0"/>
              <a:sym typeface="ITC Benguiat Bold"/>
            </a:endParaRPr>
          </a:p>
        </p:txBody>
      </p:sp>
      <p:sp>
        <p:nvSpPr>
          <p:cNvPr id="49" name="TextBox 13">
            <a:extLst>
              <a:ext uri="{FF2B5EF4-FFF2-40B4-BE49-F238E27FC236}">
                <a16:creationId xmlns:a16="http://schemas.microsoft.com/office/drawing/2014/main" id="{44D6733E-5852-4053-A8C8-88A1217FBA8F}"/>
              </a:ext>
            </a:extLst>
          </p:cNvPr>
          <p:cNvSpPr txBox="1"/>
          <p:nvPr/>
        </p:nvSpPr>
        <p:spPr>
          <a:xfrm>
            <a:off x="4727811" y="426205"/>
            <a:ext cx="6204658" cy="410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800" dirty="0">
                <a:solidFill>
                  <a:schemeClr val="accent6"/>
                </a:solidFill>
                <a:latin typeface="Georgia" panose="02040502050405020303" pitchFamily="18" charset="0"/>
                <a:ea typeface="ITC Benguiat Bold"/>
                <a:cs typeface="ITC Benguiat Bold"/>
                <a:sym typeface="ITC Benguiat Bold"/>
              </a:rPr>
              <a:t>Qui Suis – Je?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11D34B8-7DE6-06F2-3F0C-8829F1BC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429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733564" flipH="1">
            <a:off x="-687227" y="-124353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8080941" y="3457346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-3464162" y="2916372"/>
            <a:ext cx="13288906" cy="91191"/>
            <a:chOff x="0" y="0"/>
            <a:chExt cx="5249938" cy="360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49938" cy="36026"/>
            </a:xfrm>
            <a:custGeom>
              <a:avLst/>
              <a:gdLst/>
              <a:ahLst/>
              <a:cxnLst/>
              <a:rect l="l" t="t" r="r" b="b"/>
              <a:pathLst>
                <a:path w="5249938" h="36026">
                  <a:moveTo>
                    <a:pt x="0" y="0"/>
                  </a:moveTo>
                  <a:lnTo>
                    <a:pt x="5249938" y="0"/>
                  </a:lnTo>
                  <a:lnTo>
                    <a:pt x="5249938" y="36026"/>
                  </a:lnTo>
                  <a:lnTo>
                    <a:pt x="0" y="36026"/>
                  </a:lnTo>
                  <a:close/>
                </a:path>
              </a:pathLst>
            </a:custGeom>
            <a:solidFill>
              <a:srgbClr val="E78C3F"/>
            </a:solidFill>
          </p:spPr>
          <p:txBody>
            <a:bodyPr/>
            <a:lstStyle/>
            <a:p>
              <a:endParaRPr lang="fr-CM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249938" cy="741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97166" y="4443358"/>
            <a:ext cx="9367846" cy="106330"/>
            <a:chOff x="0" y="0"/>
            <a:chExt cx="3700877" cy="420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00877" cy="42007"/>
            </a:xfrm>
            <a:custGeom>
              <a:avLst/>
              <a:gdLst/>
              <a:ahLst/>
              <a:cxnLst/>
              <a:rect l="l" t="t" r="r" b="b"/>
              <a:pathLst>
                <a:path w="3700877" h="42007">
                  <a:moveTo>
                    <a:pt x="0" y="0"/>
                  </a:moveTo>
                  <a:lnTo>
                    <a:pt x="3700877" y="0"/>
                  </a:lnTo>
                  <a:lnTo>
                    <a:pt x="3700877" y="42007"/>
                  </a:lnTo>
                  <a:lnTo>
                    <a:pt x="0" y="42007"/>
                  </a:lnTo>
                  <a:close/>
                </a:path>
              </a:pathLst>
            </a:custGeom>
            <a:solidFill>
              <a:srgbClr val="012F7F"/>
            </a:solidFill>
          </p:spPr>
          <p:txBody>
            <a:bodyPr/>
            <a:lstStyle/>
            <a:p>
              <a:endParaRPr lang="fr-CM" sz="2000" dirty="0">
                <a:latin typeface="Georgia" panose="020405020504050203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700877" cy="801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2000" dirty="0">
                <a:latin typeface="Georgia" panose="02040502050405020303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58737" y="3078888"/>
            <a:ext cx="1074746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dirty="0">
                <a:solidFill>
                  <a:schemeClr val="accent1"/>
                </a:solidFill>
                <a:latin typeface="Georgia" panose="02040502050405020303" pitchFamily="18" charset="0"/>
                <a:ea typeface="ITC Benguiat Bold"/>
                <a:cs typeface="Arial" panose="020B0604020202020204" pitchFamily="34" charset="0"/>
                <a:sym typeface="ITC Benguiat Bold"/>
              </a:rPr>
              <a:t>HIGH DIMENSIONEL VARIABLE SELECTION WITH COMPETING EVENTS USING COOPERATIVE PENALIZED REGRESSION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7227" y="2504726"/>
            <a:ext cx="1001086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12F7F"/>
                </a:solidFill>
                <a:latin typeface="Georgia" panose="02040502050405020303" pitchFamily="18" charset="0"/>
                <a:ea typeface="ITC Benguiat Bold"/>
                <a:cs typeface="Arial" panose="020B0604020202020204" pitchFamily="34" charset="0"/>
                <a:sym typeface="ITC Benguiat Bold"/>
              </a:rPr>
              <a:t>CANDIDATURE AU THESE: </a:t>
            </a:r>
            <a:r>
              <a:rPr lang="fr-FR" sz="2000" dirty="0">
                <a:solidFill>
                  <a:srgbClr val="012F7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High-</a:t>
            </a:r>
            <a:r>
              <a:rPr lang="fr-FR" sz="2000" dirty="0" err="1">
                <a:solidFill>
                  <a:srgbClr val="012F7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dimensional</a:t>
            </a:r>
            <a:r>
              <a:rPr lang="fr-FR" sz="2000" dirty="0"/>
              <a:t> </a:t>
            </a:r>
            <a:r>
              <a:rPr lang="fr-FR" sz="2000" dirty="0" err="1">
                <a:solidFill>
                  <a:srgbClr val="012F7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survival</a:t>
            </a:r>
            <a:r>
              <a:rPr lang="fr-FR" sz="2000" dirty="0"/>
              <a:t> </a:t>
            </a:r>
            <a:r>
              <a:rPr lang="fr-FR" sz="2000" dirty="0" err="1">
                <a:solidFill>
                  <a:srgbClr val="012F7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models</a:t>
            </a:r>
            <a:r>
              <a:rPr lang="fr-FR" sz="2000" dirty="0"/>
              <a:t> </a:t>
            </a:r>
            <a:r>
              <a:rPr lang="fr-FR" sz="2000" dirty="0" err="1">
                <a:solidFill>
                  <a:srgbClr val="012F7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with</a:t>
            </a:r>
            <a:r>
              <a:rPr lang="fr-FR" sz="2000" dirty="0"/>
              <a:t> </a:t>
            </a:r>
            <a:r>
              <a:rPr lang="fr-FR" sz="2000" dirty="0" err="1">
                <a:solidFill>
                  <a:srgbClr val="012F7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competing</a:t>
            </a:r>
            <a:r>
              <a:rPr lang="fr-FR" sz="2000" dirty="0"/>
              <a:t> </a:t>
            </a:r>
            <a:r>
              <a:rPr lang="fr-FR" sz="2000" dirty="0" err="1">
                <a:solidFill>
                  <a:srgbClr val="012F7F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risks</a:t>
            </a:r>
            <a:endParaRPr lang="en-US" sz="2000" dirty="0">
              <a:solidFill>
                <a:srgbClr val="012F7F"/>
              </a:solidFill>
              <a:latin typeface="Georgia" panose="02040502050405020303" pitchFamily="18" charset="0"/>
              <a:cs typeface="Arial" panose="020B0604020202020204" pitchFamily="34" charset="0"/>
              <a:sym typeface="ITC Benguia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58738" y="5234003"/>
            <a:ext cx="1563370" cy="32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fr-FR" sz="2000" u="sng" dirty="0">
                <a:solidFill>
                  <a:srgbClr val="000000"/>
                </a:solidFill>
                <a:latin typeface="Georgia" panose="02040502050405020303" pitchFamily="18" charset="0"/>
                <a:ea typeface="Bree Serif"/>
                <a:cs typeface="Arial" panose="020B0604020202020204" pitchFamily="34" charset="0"/>
                <a:sym typeface="Bree Serif"/>
              </a:rPr>
              <a:t>Présenté</a:t>
            </a:r>
            <a:r>
              <a:rPr lang="en-US" sz="2000" u="sng" dirty="0">
                <a:solidFill>
                  <a:srgbClr val="000000"/>
                </a:solidFill>
                <a:latin typeface="Georgia" panose="02040502050405020303" pitchFamily="18" charset="0"/>
                <a:ea typeface="Bree Serif"/>
                <a:cs typeface="Arial" panose="020B0604020202020204" pitchFamily="34" charset="0"/>
                <a:sym typeface="Bree Serif"/>
              </a:rPr>
              <a:t> par 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11395" y="5226368"/>
            <a:ext cx="3244505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u="sng" dirty="0">
                <a:solidFill>
                  <a:srgbClr val="000000"/>
                </a:solidFill>
                <a:latin typeface="Georgia" panose="02040502050405020303" pitchFamily="18" charset="0"/>
                <a:ea typeface="Bree Serif"/>
                <a:cs typeface="Arial" panose="020B0604020202020204" pitchFamily="34" charset="0"/>
                <a:sym typeface="Bree Serif"/>
              </a:rPr>
              <a:t>PHD Supervisor: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9471" y="5742396"/>
            <a:ext cx="4552905" cy="309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000" dirty="0">
                <a:latin typeface="Georgia" panose="02040502050405020303" pitchFamily="18" charset="0"/>
                <a:ea typeface="ITC Benguiat Bold"/>
                <a:cs typeface="Arial" panose="020B0604020202020204" pitchFamily="34" charset="0"/>
                <a:sym typeface="ITC Benguiat Bold"/>
              </a:rPr>
              <a:t> Kouldjim ELIE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92191" y="5731075"/>
            <a:ext cx="3448815" cy="315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000" dirty="0" err="1">
                <a:latin typeface="Georgia" panose="02040502050405020303" pitchFamily="18" charset="0"/>
                <a:ea typeface="ITC Benguiat Bold"/>
                <a:cs typeface="Arial" panose="020B0604020202020204" pitchFamily="34" charset="0"/>
                <a:sym typeface="ITC Benguiat Bold"/>
              </a:rPr>
              <a:t>Mme</a:t>
            </a:r>
            <a:r>
              <a:rPr lang="en-US" sz="2000" dirty="0">
                <a:latin typeface="Georgia" panose="02040502050405020303" pitchFamily="18" charset="0"/>
                <a:ea typeface="ITC Benguiat Bold"/>
                <a:cs typeface="Arial" panose="020B0604020202020204" pitchFamily="34" charset="0"/>
                <a:sym typeface="ITC Benguiat Bold"/>
              </a:rPr>
              <a:t> </a:t>
            </a:r>
            <a:r>
              <a:rPr lang="fr-FR" sz="2000" dirty="0"/>
              <a:t>Guillemette MAROT</a:t>
            </a:r>
            <a:endParaRPr lang="en-US" sz="2000" dirty="0">
              <a:latin typeface="Georgia" panose="02040502050405020303" pitchFamily="18" charset="0"/>
              <a:ea typeface="ITC Benguiat Bold"/>
              <a:cs typeface="Arial" panose="020B0604020202020204" pitchFamily="34" charset="0"/>
              <a:sym typeface="ITC Benguiat Bold"/>
            </a:endParaRPr>
          </a:p>
        </p:txBody>
      </p: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1C9A87BE-BC6B-9C5A-9B8E-A8B3F18B722A}"/>
              </a:ext>
            </a:extLst>
          </p:cNvPr>
          <p:cNvGrpSpPr/>
          <p:nvPr/>
        </p:nvGrpSpPr>
        <p:grpSpPr>
          <a:xfrm>
            <a:off x="5908922" y="3142475"/>
            <a:ext cx="752390" cy="1010232"/>
            <a:chOff x="10636359" y="1028700"/>
            <a:chExt cx="6622941" cy="7706695"/>
          </a:xfrm>
          <a:noFill/>
        </p:grpSpPr>
        <p:grpSp>
          <p:nvGrpSpPr>
            <p:cNvPr id="82" name="Group 2">
              <a:extLst>
                <a:ext uri="{FF2B5EF4-FFF2-40B4-BE49-F238E27FC236}">
                  <a16:creationId xmlns:a16="http://schemas.microsoft.com/office/drawing/2014/main" id="{621C7BA1-724C-DEB7-6D1A-2F463D851B79}"/>
                </a:ext>
              </a:extLst>
            </p:cNvPr>
            <p:cNvGrpSpPr/>
            <p:nvPr/>
          </p:nvGrpSpPr>
          <p:grpSpPr>
            <a:xfrm rot="-5400000">
              <a:off x="10094482" y="1570577"/>
              <a:ext cx="7706695" cy="6622941"/>
              <a:chOff x="0" y="0"/>
              <a:chExt cx="812800" cy="698500"/>
            </a:xfrm>
            <a:grpFill/>
          </p:grpSpPr>
          <p:sp>
            <p:nvSpPr>
              <p:cNvPr id="87" name="Freeform 3">
                <a:extLst>
                  <a:ext uri="{FF2B5EF4-FFF2-40B4-BE49-F238E27FC236}">
                    <a16:creationId xmlns:a16="http://schemas.microsoft.com/office/drawing/2014/main" id="{F61BD25B-8B65-9550-A2DA-FC1C495C211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CM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TextBox 4">
                <a:extLst>
                  <a:ext uri="{FF2B5EF4-FFF2-40B4-BE49-F238E27FC236}">
                    <a16:creationId xmlns:a16="http://schemas.microsoft.com/office/drawing/2014/main" id="{E02ADA76-B038-BA91-4411-1E866B6B829F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584200" cy="7366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3" name="Group 17">
              <a:extLst>
                <a:ext uri="{FF2B5EF4-FFF2-40B4-BE49-F238E27FC236}">
                  <a16:creationId xmlns:a16="http://schemas.microsoft.com/office/drawing/2014/main" id="{389EF4EB-75FC-F74C-B854-A107034DA356}"/>
                </a:ext>
              </a:extLst>
            </p:cNvPr>
            <p:cNvGrpSpPr/>
            <p:nvPr/>
          </p:nvGrpSpPr>
          <p:grpSpPr>
            <a:xfrm rot="-5400000">
              <a:off x="10593203" y="1959497"/>
              <a:ext cx="6709253" cy="5845101"/>
              <a:chOff x="0" y="0"/>
              <a:chExt cx="6350000" cy="5532120"/>
            </a:xfrm>
            <a:grpFill/>
          </p:grpSpPr>
          <p:sp>
            <p:nvSpPr>
              <p:cNvPr id="86" name="Freeform 18">
                <a:extLst>
                  <a:ext uri="{FF2B5EF4-FFF2-40B4-BE49-F238E27FC236}">
                    <a16:creationId xmlns:a16="http://schemas.microsoft.com/office/drawing/2014/main" id="{F5EE432F-7797-8CF7-45EE-46DBB0B726F8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553212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532120">
                    <a:moveTo>
                      <a:pt x="4762500" y="0"/>
                    </a:moveTo>
                    <a:lnTo>
                      <a:pt x="1587500" y="0"/>
                    </a:lnTo>
                    <a:lnTo>
                      <a:pt x="0" y="2766060"/>
                    </a:lnTo>
                    <a:lnTo>
                      <a:pt x="1587500" y="5532120"/>
                    </a:lnTo>
                    <a:lnTo>
                      <a:pt x="4762500" y="5532120"/>
                    </a:lnTo>
                    <a:lnTo>
                      <a:pt x="6350000" y="2766060"/>
                    </a:lnTo>
                    <a:lnTo>
                      <a:pt x="4762500" y="0"/>
                    </a:lnTo>
                    <a:lnTo>
                      <a:pt x="4762500" y="0"/>
                    </a:lnTo>
                    <a:close/>
                    <a:moveTo>
                      <a:pt x="4676140" y="5382260"/>
                    </a:moveTo>
                    <a:lnTo>
                      <a:pt x="1673860" y="5382260"/>
                    </a:lnTo>
                    <a:lnTo>
                      <a:pt x="172720" y="2766060"/>
                    </a:lnTo>
                    <a:lnTo>
                      <a:pt x="1673860" y="149860"/>
                    </a:lnTo>
                    <a:lnTo>
                      <a:pt x="4676140" y="149860"/>
                    </a:lnTo>
                    <a:lnTo>
                      <a:pt x="6177280" y="2766060"/>
                    </a:lnTo>
                    <a:lnTo>
                      <a:pt x="4676140" y="5382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fr-CM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4" name="Group 21">
              <a:extLst>
                <a:ext uri="{FF2B5EF4-FFF2-40B4-BE49-F238E27FC236}">
                  <a16:creationId xmlns:a16="http://schemas.microsoft.com/office/drawing/2014/main" id="{800E44A6-F70C-F0DE-B348-6B031DB90B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369337" y="1904574"/>
              <a:ext cx="5156985" cy="5954948"/>
              <a:chOff x="0" y="0"/>
              <a:chExt cx="5499100" cy="6350000"/>
            </a:xfrm>
            <a:grpFill/>
          </p:grpSpPr>
          <p:sp>
            <p:nvSpPr>
              <p:cNvPr id="85" name="Freeform 22">
                <a:extLst>
                  <a:ext uri="{FF2B5EF4-FFF2-40B4-BE49-F238E27FC236}">
                    <a16:creationId xmlns:a16="http://schemas.microsoft.com/office/drawing/2014/main" id="{836F4552-2B3D-7653-833A-CB4839E94E57}"/>
                  </a:ext>
                </a:extLst>
              </p:cNvPr>
              <p:cNvSpPr/>
              <p:nvPr/>
            </p:nvSpPr>
            <p:spPr>
              <a:xfrm>
                <a:off x="0" y="0"/>
                <a:ext cx="54991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5499100" h="6350000">
                    <a:moveTo>
                      <a:pt x="2749550" y="6350000"/>
                    </a:moveTo>
                    <a:lnTo>
                      <a:pt x="0" y="4762500"/>
                    </a:lnTo>
                    <a:lnTo>
                      <a:pt x="0" y="1587500"/>
                    </a:lnTo>
                    <a:lnTo>
                      <a:pt x="2749550" y="0"/>
                    </a:lnTo>
                    <a:lnTo>
                      <a:pt x="5499100" y="1587500"/>
                    </a:lnTo>
                    <a:lnTo>
                      <a:pt x="5499100" y="4762500"/>
                    </a:lnTo>
                    <a:lnTo>
                      <a:pt x="2749550" y="6350000"/>
                    </a:lnTo>
                    <a:close/>
                  </a:path>
                </a:pathLst>
              </a:custGeom>
              <a:grpFill/>
              <a:ln w="12700">
                <a:noFill/>
              </a:ln>
            </p:spPr>
            <p:txBody>
              <a:bodyPr/>
              <a:lstStyle/>
              <a:p>
                <a:endParaRPr lang="fr-CM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64" name="Picture 2" descr="Appellation, logo et charte graphique : tout ce qu'il faut savoir | Université  Paris Cité">
            <a:extLst>
              <a:ext uri="{FF2B5EF4-FFF2-40B4-BE49-F238E27FC236}">
                <a16:creationId xmlns:a16="http://schemas.microsoft.com/office/drawing/2014/main" id="{0524B1B6-DFF7-4863-A973-AA43836B7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751" y="697598"/>
            <a:ext cx="3123249" cy="119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Image 65">
            <a:extLst>
              <a:ext uri="{FF2B5EF4-FFF2-40B4-BE49-F238E27FC236}">
                <a16:creationId xmlns:a16="http://schemas.microsoft.com/office/drawing/2014/main" id="{3EB8DEB3-9E9A-44BE-AD96-EB79227613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693" y="256163"/>
            <a:ext cx="2310471" cy="1302038"/>
          </a:xfrm>
          <a:prstGeom prst="rect">
            <a:avLst/>
          </a:prstGeom>
          <a:noFill/>
        </p:spPr>
      </p:pic>
      <p:sp>
        <p:nvSpPr>
          <p:cNvPr id="68" name="TextBox 18">
            <a:extLst>
              <a:ext uri="{FF2B5EF4-FFF2-40B4-BE49-F238E27FC236}">
                <a16:creationId xmlns:a16="http://schemas.microsoft.com/office/drawing/2014/main" id="{F55E44F2-B11B-40E7-9E4C-F0C9DC3E9D06}"/>
              </a:ext>
            </a:extLst>
          </p:cNvPr>
          <p:cNvSpPr txBox="1"/>
          <p:nvPr/>
        </p:nvSpPr>
        <p:spPr>
          <a:xfrm>
            <a:off x="5992191" y="6115042"/>
            <a:ext cx="5133009" cy="315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000" dirty="0" err="1">
                <a:latin typeface="Georgia" panose="02040502050405020303" pitchFamily="18" charset="0"/>
                <a:ea typeface="ITC Benguiat Bold"/>
                <a:cs typeface="Arial" panose="020B0604020202020204" pitchFamily="34" charset="0"/>
                <a:sym typeface="ITC Benguiat Bold"/>
              </a:rPr>
              <a:t>Mme</a:t>
            </a:r>
            <a:r>
              <a:rPr lang="en-US" sz="2000" dirty="0">
                <a:latin typeface="Georgia" panose="02040502050405020303" pitchFamily="18" charset="0"/>
                <a:ea typeface="ITC Benguiat Bold"/>
                <a:cs typeface="Arial" panose="020B0604020202020204" pitchFamily="34" charset="0"/>
                <a:sym typeface="ITC Benguiat Bold"/>
              </a:rPr>
              <a:t> </a:t>
            </a:r>
            <a:r>
              <a:rPr lang="fr-FR" sz="2000" dirty="0" err="1"/>
              <a:t>Evgéniya</a:t>
            </a:r>
            <a:r>
              <a:rPr lang="fr-FR" sz="2000" dirty="0"/>
              <a:t> BABYKINA</a:t>
            </a:r>
            <a:endParaRPr lang="en-US" sz="2000" dirty="0">
              <a:latin typeface="Georgia" panose="02040502050405020303" pitchFamily="18" charset="0"/>
              <a:ea typeface="ITC Benguiat Bold"/>
              <a:cs typeface="Arial" panose="020B0604020202020204" pitchFamily="34" charset="0"/>
              <a:sym typeface="ITC Benguiat Bold"/>
            </a:endParaRPr>
          </a:p>
        </p:txBody>
      </p:sp>
      <p:sp>
        <p:nvSpPr>
          <p:cNvPr id="79" name="TextBox 15">
            <a:extLst>
              <a:ext uri="{FF2B5EF4-FFF2-40B4-BE49-F238E27FC236}">
                <a16:creationId xmlns:a16="http://schemas.microsoft.com/office/drawing/2014/main" id="{4A5BE666-3E12-448B-BB2A-B83C0C404578}"/>
              </a:ext>
            </a:extLst>
          </p:cNvPr>
          <p:cNvSpPr txBox="1"/>
          <p:nvPr/>
        </p:nvSpPr>
        <p:spPr>
          <a:xfrm>
            <a:off x="1875830" y="4622999"/>
            <a:ext cx="2797302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u="sng" dirty="0">
                <a:solidFill>
                  <a:srgbClr val="000000"/>
                </a:solidFill>
                <a:latin typeface="Georgia" panose="02040502050405020303" pitchFamily="18" charset="0"/>
                <a:ea typeface="Bree Serif"/>
                <a:cs typeface="Arial" panose="020B0604020202020204" pitchFamily="34" charset="0"/>
                <a:sym typeface="Bree Serif"/>
              </a:rPr>
              <a:t>Auteurs de </a:t>
            </a:r>
            <a:r>
              <a:rPr lang="en-US" sz="2000" u="sng" dirty="0" err="1">
                <a:solidFill>
                  <a:srgbClr val="000000"/>
                </a:solidFill>
                <a:latin typeface="Georgia" panose="02040502050405020303" pitchFamily="18" charset="0"/>
                <a:ea typeface="Bree Serif"/>
                <a:cs typeface="Arial" panose="020B0604020202020204" pitchFamily="34" charset="0"/>
                <a:sym typeface="Bree Serif"/>
              </a:rPr>
              <a:t>l’article</a:t>
            </a:r>
            <a:r>
              <a:rPr lang="en-US" sz="2000" u="sng" dirty="0">
                <a:solidFill>
                  <a:srgbClr val="000000"/>
                </a:solidFill>
                <a:latin typeface="Georgia" panose="02040502050405020303" pitchFamily="18" charset="0"/>
                <a:ea typeface="Bree Serif"/>
                <a:cs typeface="Arial" panose="020B0604020202020204" pitchFamily="34" charset="0"/>
                <a:sym typeface="Bree Serif"/>
              </a:rPr>
              <a:t> :</a:t>
            </a:r>
          </a:p>
        </p:txBody>
      </p:sp>
      <p:sp>
        <p:nvSpPr>
          <p:cNvPr id="80" name="TextBox 17">
            <a:extLst>
              <a:ext uri="{FF2B5EF4-FFF2-40B4-BE49-F238E27FC236}">
                <a16:creationId xmlns:a16="http://schemas.microsoft.com/office/drawing/2014/main" id="{CBF4EFA1-08A3-4AA6-B7A8-E58764BE0E10}"/>
              </a:ext>
            </a:extLst>
          </p:cNvPr>
          <p:cNvSpPr txBox="1"/>
          <p:nvPr/>
        </p:nvSpPr>
        <p:spPr>
          <a:xfrm>
            <a:off x="4504308" y="4659981"/>
            <a:ext cx="7097142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u="sng" dirty="0">
                <a:hlinkClick r:id="rId7"/>
              </a:rPr>
              <a:t>Lukas Burk</a:t>
            </a:r>
            <a:r>
              <a:rPr lang="fr-FR" dirty="0"/>
              <a:t>, </a:t>
            </a:r>
            <a:r>
              <a:rPr lang="fr-FR" u="sng" dirty="0">
                <a:hlinkClick r:id="rId8"/>
              </a:rPr>
              <a:t>Andreas Bender</a:t>
            </a:r>
            <a:r>
              <a:rPr lang="fr-FR" dirty="0"/>
              <a:t>, </a:t>
            </a:r>
            <a:r>
              <a:rPr lang="fr-FR" u="sng" dirty="0">
                <a:hlinkClick r:id="rId9"/>
              </a:rPr>
              <a:t>Marvin N. Wright</a:t>
            </a:r>
            <a:r>
              <a:rPr lang="fr-FR" u="sng" dirty="0"/>
              <a:t>,  2025 </a:t>
            </a:r>
            <a:r>
              <a:rPr lang="fr-FR" u="sng" dirty="0" err="1"/>
              <a:t>Biometrical</a:t>
            </a:r>
            <a:r>
              <a:rPr lang="fr-FR" u="sng" dirty="0"/>
              <a:t> Journal</a:t>
            </a:r>
            <a:endParaRPr lang="en-US" sz="2000" dirty="0">
              <a:latin typeface="Georgia" panose="02040502050405020303" pitchFamily="18" charset="0"/>
              <a:ea typeface="ITC Benguiat Bold"/>
              <a:cs typeface="Arial" panose="020B0604020202020204" pitchFamily="34" charset="0"/>
              <a:sym typeface="ITC Benguiat Bold"/>
            </a:endParaRPr>
          </a:p>
        </p:txBody>
      </p:sp>
      <p:sp>
        <p:nvSpPr>
          <p:cNvPr id="30" name="Freeform 3">
            <a:extLst>
              <a:ext uri="{FF2B5EF4-FFF2-40B4-BE49-F238E27FC236}">
                <a16:creationId xmlns:a16="http://schemas.microsoft.com/office/drawing/2014/main" id="{82C25B23-48DD-42AD-B943-28F645D7FB96}"/>
              </a:ext>
            </a:extLst>
          </p:cNvPr>
          <p:cNvSpPr/>
          <p:nvPr/>
        </p:nvSpPr>
        <p:spPr>
          <a:xfrm rot="5400000" flipH="1">
            <a:off x="-1821171" y="2772459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9BE5844-5D21-4209-EEAD-D82ED4B7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2</a:t>
            </a:fld>
            <a:endParaRPr lang="fr-FR" dirty="0"/>
          </a:p>
        </p:txBody>
      </p:sp>
      <p:pic>
        <p:nvPicPr>
          <p:cNvPr id="11" name="Image 10" descr="&lt;b&gt;INRIA&lt;/b&gt; – Culture Académique Science et Technologie de l&amp;#39;école à l ...">
            <a:extLst>
              <a:ext uri="{FF2B5EF4-FFF2-40B4-BE49-F238E27FC236}">
                <a16:creationId xmlns:a16="http://schemas.microsoft.com/office/drawing/2014/main" id="{61B36AC4-2743-E160-DD79-948DB80C52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4725" y="178656"/>
            <a:ext cx="2938462" cy="14790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5C59F-6E85-7A6B-709E-359BD5AA7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5370A12-A208-E4CC-5E39-49103FDBC324}"/>
              </a:ext>
            </a:extLst>
          </p:cNvPr>
          <p:cNvSpPr/>
          <p:nvPr/>
        </p:nvSpPr>
        <p:spPr>
          <a:xfrm flipH="1">
            <a:off x="8099398" y="3447739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/>
          </a:p>
        </p:txBody>
      </p:sp>
      <p:sp>
        <p:nvSpPr>
          <p:cNvPr id="30" name="AutoShape 61">
            <a:extLst>
              <a:ext uri="{FF2B5EF4-FFF2-40B4-BE49-F238E27FC236}">
                <a16:creationId xmlns:a16="http://schemas.microsoft.com/office/drawing/2014/main" id="{6A3F5720-8867-7687-16CE-19C938FDEE95}"/>
              </a:ext>
            </a:extLst>
          </p:cNvPr>
          <p:cNvSpPr/>
          <p:nvPr/>
        </p:nvSpPr>
        <p:spPr>
          <a:xfrm rot="5400000">
            <a:off x="-3236404" y="4111618"/>
            <a:ext cx="10003955" cy="1194"/>
          </a:xfrm>
          <a:prstGeom prst="line">
            <a:avLst/>
          </a:prstGeom>
          <a:ln w="57150" cap="flat">
            <a:solidFill>
              <a:srgbClr val="CD76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M" sz="1200" dirty="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9A8BE129-4C40-557F-D4EA-CFF3C4F0A2BC}"/>
              </a:ext>
            </a:extLst>
          </p:cNvPr>
          <p:cNvSpPr/>
          <p:nvPr/>
        </p:nvSpPr>
        <p:spPr>
          <a:xfrm rot="5400000" flipH="1">
            <a:off x="-1329507" y="251119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endParaRPr lang="fr-CM" sz="1200" dirty="0"/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id="{B2AAA5BE-3FE4-937F-E24A-E82D9AF67AAC}"/>
              </a:ext>
            </a:extLst>
          </p:cNvPr>
          <p:cNvGrpSpPr/>
          <p:nvPr/>
        </p:nvGrpSpPr>
        <p:grpSpPr>
          <a:xfrm>
            <a:off x="0" y="1054171"/>
            <a:ext cx="13288906" cy="91191"/>
            <a:chOff x="0" y="0"/>
            <a:chExt cx="5249938" cy="3602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0D934586-BCB9-650B-B615-C53E303A98D0}"/>
                </a:ext>
              </a:extLst>
            </p:cNvPr>
            <p:cNvSpPr/>
            <p:nvPr/>
          </p:nvSpPr>
          <p:spPr>
            <a:xfrm>
              <a:off x="0" y="0"/>
              <a:ext cx="5249938" cy="36026"/>
            </a:xfrm>
            <a:custGeom>
              <a:avLst/>
              <a:gdLst/>
              <a:ahLst/>
              <a:cxnLst/>
              <a:rect l="l" t="t" r="r" b="b"/>
              <a:pathLst>
                <a:path w="5249938" h="36026">
                  <a:moveTo>
                    <a:pt x="0" y="0"/>
                  </a:moveTo>
                  <a:lnTo>
                    <a:pt x="5249938" y="0"/>
                  </a:lnTo>
                  <a:lnTo>
                    <a:pt x="5249938" y="36026"/>
                  </a:lnTo>
                  <a:lnTo>
                    <a:pt x="0" y="36026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/>
            <a:lstStyle/>
            <a:p>
              <a:endParaRPr lang="fr-CM" sz="1200" dirty="0"/>
            </a:p>
          </p:txBody>
        </p:sp>
        <p:sp>
          <p:nvSpPr>
            <p:cNvPr id="27" name="TextBox 6">
              <a:extLst>
                <a:ext uri="{FF2B5EF4-FFF2-40B4-BE49-F238E27FC236}">
                  <a16:creationId xmlns:a16="http://schemas.microsoft.com/office/drawing/2014/main" id="{D2C1ECDA-A69B-3BA7-A509-BDBA929F8172}"/>
                </a:ext>
              </a:extLst>
            </p:cNvPr>
            <p:cNvSpPr txBox="1"/>
            <p:nvPr/>
          </p:nvSpPr>
          <p:spPr>
            <a:xfrm>
              <a:off x="0" y="-38100"/>
              <a:ext cx="5249938" cy="741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49D1FBE5-AC25-9BF7-ACA3-886F5D407785}"/>
              </a:ext>
            </a:extLst>
          </p:cNvPr>
          <p:cNvSpPr/>
          <p:nvPr/>
        </p:nvSpPr>
        <p:spPr>
          <a:xfrm rot="10733564" flipH="1">
            <a:off x="-687227" y="-124353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/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539224D7-7029-E8B8-97B1-00128A1FF79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rot="5400000">
            <a:off x="712788" y="1283297"/>
            <a:ext cx="837030" cy="1038751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B9643D01-7381-7E3E-E5C3-DEF87BF88276}"/>
              </a:ext>
            </a:extLst>
          </p:cNvPr>
          <p:cNvSpPr txBox="1"/>
          <p:nvPr/>
        </p:nvSpPr>
        <p:spPr>
          <a:xfrm>
            <a:off x="-2143979" y="28470025"/>
            <a:ext cx="8371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600" dirty="0">
                <a:hlinkClick r:id="rId6" tooltip="https://freepngimg.com/png/14614-presentation-download-png"/>
              </a:rPr>
              <a:t>Cette photo</a:t>
            </a:r>
            <a:r>
              <a:rPr lang="fr-CM" sz="600" dirty="0"/>
              <a:t> par Auteur inconnu est soumise à la licence </a:t>
            </a:r>
            <a:r>
              <a:rPr lang="fr-CM" sz="600" dirty="0">
                <a:hlinkClick r:id="rId7" tooltip="https://creativecommons.org/licenses/by-nc/3.0/"/>
              </a:rPr>
              <a:t>CC BY-NC</a:t>
            </a:r>
            <a:endParaRPr lang="fr-CM" sz="600" dirty="0"/>
          </a:p>
        </p:txBody>
      </p:sp>
      <p:sp>
        <p:nvSpPr>
          <p:cNvPr id="53" name="TextBox 17">
            <a:extLst>
              <a:ext uri="{FF2B5EF4-FFF2-40B4-BE49-F238E27FC236}">
                <a16:creationId xmlns:a16="http://schemas.microsoft.com/office/drawing/2014/main" id="{F8BC7D0D-85A5-4BBE-A033-01A7CB3A4997}"/>
              </a:ext>
            </a:extLst>
          </p:cNvPr>
          <p:cNvSpPr txBox="1"/>
          <p:nvPr/>
        </p:nvSpPr>
        <p:spPr>
          <a:xfrm rot="5400000">
            <a:off x="-891960" y="4170659"/>
            <a:ext cx="3898435" cy="343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800" dirty="0">
                <a:solidFill>
                  <a:srgbClr val="012F7F"/>
                </a:solidFill>
                <a:latin typeface="Georgia" panose="02040502050405020303" pitchFamily="18" charset="0"/>
                <a:cs typeface="Arial" panose="020B0604020202020204" pitchFamily="34" charset="0"/>
                <a:sym typeface="ITC Benguiat Bold"/>
              </a:rPr>
              <a:t>INTRODUCTION</a:t>
            </a:r>
            <a:endParaRPr lang="en-US" sz="3000" dirty="0">
              <a:solidFill>
                <a:srgbClr val="012F7F"/>
              </a:solidFill>
              <a:latin typeface="Georgia" panose="02040502050405020303" pitchFamily="18" charset="0"/>
              <a:cs typeface="Arial" panose="020B0604020202020204" pitchFamily="34" charset="0"/>
              <a:sym typeface="ITC Benguiat Bold"/>
            </a:endParaRPr>
          </a:p>
        </p:txBody>
      </p:sp>
      <p:sp>
        <p:nvSpPr>
          <p:cNvPr id="45" name="TextBox 17">
            <a:extLst>
              <a:ext uri="{FF2B5EF4-FFF2-40B4-BE49-F238E27FC236}">
                <a16:creationId xmlns:a16="http://schemas.microsoft.com/office/drawing/2014/main" id="{A1BBF264-CA9F-4F8D-2754-68C52E1B5A2E}"/>
              </a:ext>
            </a:extLst>
          </p:cNvPr>
          <p:cNvSpPr txBox="1"/>
          <p:nvPr/>
        </p:nvSpPr>
        <p:spPr>
          <a:xfrm>
            <a:off x="2186619" y="1297042"/>
            <a:ext cx="9755275" cy="3703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fr-FR" sz="2000" b="1" dirty="0">
                <a:latin typeface="Georgia" panose="02040502050405020303" pitchFamily="18" charset="0"/>
                <a:sym typeface="ITC Benguiat Bold"/>
              </a:rPr>
              <a:t>Risques concurrents : </a:t>
            </a:r>
            <a:r>
              <a:rPr lang="fr-FR" sz="2000" dirty="0">
                <a:latin typeface="Georgia" panose="02040502050405020303" pitchFamily="18" charset="0"/>
              </a:rPr>
              <a:t>Survenue d'un événement alternatif qui empêche ou l'apparition de l'événement d'intérêt.</a:t>
            </a:r>
            <a:endParaRPr lang="fr-FR" sz="2000" dirty="0">
              <a:latin typeface="Georgia" panose="02040502050405020303" pitchFamily="18" charset="0"/>
              <a:sym typeface="ITC Benguiat Bold"/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fr-FR" sz="2000" b="1" dirty="0">
                <a:latin typeface="Georgia" panose="02040502050405020303" pitchFamily="18" charset="0"/>
              </a:rPr>
              <a:t>Approche</a:t>
            </a:r>
            <a:r>
              <a:rPr lang="fr-FR" sz="2000" b="1" dirty="0"/>
              <a:t> </a:t>
            </a:r>
            <a:r>
              <a:rPr lang="fr-FR" sz="2000" b="1" dirty="0">
                <a:latin typeface="Georgia" panose="02040502050405020303" pitchFamily="18" charset="0"/>
              </a:rPr>
              <a:t>classique</a:t>
            </a:r>
            <a:r>
              <a:rPr lang="fr-FR" sz="2000" b="1" dirty="0"/>
              <a:t> </a:t>
            </a:r>
            <a:r>
              <a:rPr lang="fr-FR" sz="2000" b="1" dirty="0">
                <a:latin typeface="Georgia" panose="02040502050405020303" pitchFamily="18" charset="0"/>
                <a:sym typeface="ITC Benguiat Bold"/>
              </a:rPr>
              <a:t>: </a:t>
            </a:r>
            <a:r>
              <a:rPr lang="fr-FR" sz="2000" dirty="0">
                <a:latin typeface="Georgia" panose="02040502050405020303" pitchFamily="18" charset="0"/>
              </a:rPr>
              <a:t>Modèles de risques cause-spécifiques (Cause-</a:t>
            </a:r>
            <a:r>
              <a:rPr lang="fr-FR" sz="2000" dirty="0" err="1">
                <a:latin typeface="Georgia" panose="02040502050405020303" pitchFamily="18" charset="0"/>
              </a:rPr>
              <a:t>Specific</a:t>
            </a:r>
            <a:r>
              <a:rPr lang="fr-FR" sz="2000" dirty="0">
                <a:latin typeface="Georgia" panose="02040502050405020303" pitchFamily="18" charset="0"/>
              </a:rPr>
              <a:t> </a:t>
            </a:r>
            <a:r>
              <a:rPr lang="fr-FR" sz="2000" dirty="0" err="1">
                <a:latin typeface="Georgia" panose="02040502050405020303" pitchFamily="18" charset="0"/>
              </a:rPr>
              <a:t>Hazards</a:t>
            </a:r>
            <a:r>
              <a:rPr lang="fr-FR" sz="2000" dirty="0">
                <a:latin typeface="Georgia" panose="02040502050405020303" pitchFamily="18" charset="0"/>
              </a:rPr>
              <a:t> - CSC) via Cox pénalisé (</a:t>
            </a:r>
            <a:r>
              <a:rPr lang="fr-FR" sz="2000" dirty="0" err="1">
                <a:latin typeface="Georgia" panose="02040502050405020303" pitchFamily="18" charset="0"/>
              </a:rPr>
              <a:t>Coxnet</a:t>
            </a:r>
            <a:r>
              <a:rPr lang="fr-FR" sz="2000" dirty="0">
                <a:latin typeface="Georgia" panose="02040502050405020303" pitchFamily="18" charset="0"/>
              </a:rPr>
              <a:t>) pour grande dimension. 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fr-FR" sz="2000" b="1" dirty="0">
                <a:latin typeface="Georgia" panose="02040502050405020303" pitchFamily="18" charset="0"/>
              </a:rPr>
              <a:t>Limites majeurs</a:t>
            </a:r>
            <a:r>
              <a:rPr lang="fr-FR" sz="2000" b="1" dirty="0">
                <a:latin typeface="Georgia" panose="02040502050405020303" pitchFamily="18" charset="0"/>
                <a:sym typeface="ITC Benguiat Bold"/>
              </a:rPr>
              <a:t>: </a:t>
            </a:r>
            <a:r>
              <a:rPr lang="fr-FR" sz="2000" dirty="0">
                <a:latin typeface="Georgia" panose="02040502050405020303" pitchFamily="18" charset="0"/>
              </a:rPr>
              <a:t>Chaque cause est modélisée de manière totalement isolée</a:t>
            </a:r>
            <a:endParaRPr lang="fr-FR" sz="2000" dirty="0">
              <a:latin typeface="Georgia" panose="02040502050405020303" pitchFamily="18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fr-FR" sz="2000" b="1" dirty="0">
                <a:latin typeface="Georgia" panose="02040502050405020303" pitchFamily="18" charset="0"/>
              </a:rPr>
              <a:t>Faiblesse</a:t>
            </a:r>
            <a:r>
              <a:rPr lang="fr-FR" sz="2000" dirty="0"/>
              <a:t> : </a:t>
            </a:r>
            <a:r>
              <a:rPr lang="fr-FR" sz="2000" dirty="0">
                <a:latin typeface="Georgia" panose="02040502050405020303" pitchFamily="18" charset="0"/>
              </a:rPr>
              <a:t>Perte de puissance statistique sur les événements rares et ignorance des mécanismes biologiques partagés entre causes.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fr-FR" sz="2000" dirty="0">
                <a:solidFill>
                  <a:srgbClr val="FF0000"/>
                </a:solidFill>
                <a:latin typeface="Georgia" panose="02040502050405020303" pitchFamily="18" charset="0"/>
              </a:rPr>
              <a:t>Comment faire coopérer des modèles cause-spécifiques pour exploiter cette information partagée ?</a:t>
            </a:r>
            <a:endParaRPr lang="en-US" sz="2000" dirty="0">
              <a:solidFill>
                <a:srgbClr val="000000"/>
              </a:solidFill>
              <a:latin typeface="Bree Serif"/>
              <a:sym typeface="ITC Benguiat Bold"/>
            </a:endParaRPr>
          </a:p>
          <a:p>
            <a:pPr algn="just">
              <a:lnSpc>
                <a:spcPts val="2640"/>
              </a:lnSpc>
            </a:pPr>
            <a:endParaRPr lang="en-US" sz="2000" dirty="0">
              <a:solidFill>
                <a:srgbClr val="000000"/>
              </a:solidFill>
              <a:latin typeface="Bree Serif"/>
              <a:sym typeface="ITC Benguiat Bold"/>
            </a:endParaRPr>
          </a:p>
        </p:txBody>
      </p:sp>
      <p:sp>
        <p:nvSpPr>
          <p:cNvPr id="46" name="TextBox 13">
            <a:extLst>
              <a:ext uri="{FF2B5EF4-FFF2-40B4-BE49-F238E27FC236}">
                <a16:creationId xmlns:a16="http://schemas.microsoft.com/office/drawing/2014/main" id="{39F07E4B-E401-3377-89A5-E9F59D6CCC98}"/>
              </a:ext>
            </a:extLst>
          </p:cNvPr>
          <p:cNvSpPr txBox="1"/>
          <p:nvPr/>
        </p:nvSpPr>
        <p:spPr>
          <a:xfrm>
            <a:off x="3220785" y="379850"/>
            <a:ext cx="7273235" cy="410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Problème scientifique</a:t>
            </a:r>
            <a:endParaRPr lang="en-US" sz="2800" dirty="0">
              <a:solidFill>
                <a:schemeClr val="accent6"/>
              </a:solidFill>
              <a:latin typeface="Georgia" panose="02040502050405020303" pitchFamily="18" charset="0"/>
              <a:sym typeface="ITC Benguiat Bold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F609D2-BFEA-F471-7768-02A533F8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62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C03A-C1A5-325A-1D42-C9CDD4EB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958ABA1-C934-676B-22CE-C62D921C97DC}"/>
              </a:ext>
            </a:extLst>
          </p:cNvPr>
          <p:cNvSpPr/>
          <p:nvPr/>
        </p:nvSpPr>
        <p:spPr>
          <a:xfrm flipH="1">
            <a:off x="8099398" y="3447739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/>
          </a:p>
        </p:txBody>
      </p:sp>
      <p:sp>
        <p:nvSpPr>
          <p:cNvPr id="30" name="AutoShape 61">
            <a:extLst>
              <a:ext uri="{FF2B5EF4-FFF2-40B4-BE49-F238E27FC236}">
                <a16:creationId xmlns:a16="http://schemas.microsoft.com/office/drawing/2014/main" id="{A0D72627-E4DB-129F-019E-913697E01CFF}"/>
              </a:ext>
            </a:extLst>
          </p:cNvPr>
          <p:cNvSpPr/>
          <p:nvPr/>
        </p:nvSpPr>
        <p:spPr>
          <a:xfrm rot="5400000">
            <a:off x="-3236404" y="4111618"/>
            <a:ext cx="10003955" cy="1194"/>
          </a:xfrm>
          <a:prstGeom prst="line">
            <a:avLst/>
          </a:prstGeom>
          <a:ln w="57150" cap="flat">
            <a:solidFill>
              <a:srgbClr val="CD76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M" sz="1200" dirty="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2901300D-C2A7-571C-9836-C0CE069A7D68}"/>
              </a:ext>
            </a:extLst>
          </p:cNvPr>
          <p:cNvSpPr/>
          <p:nvPr/>
        </p:nvSpPr>
        <p:spPr>
          <a:xfrm rot="5400000" flipH="1">
            <a:off x="-1329507" y="251119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endParaRPr lang="fr-CM" sz="1200" dirty="0"/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id="{493D0D6B-1A2F-9D25-8D07-129A1DD6713D}"/>
              </a:ext>
            </a:extLst>
          </p:cNvPr>
          <p:cNvGrpSpPr/>
          <p:nvPr/>
        </p:nvGrpSpPr>
        <p:grpSpPr>
          <a:xfrm>
            <a:off x="0" y="1054171"/>
            <a:ext cx="13288906" cy="91191"/>
            <a:chOff x="0" y="0"/>
            <a:chExt cx="5249938" cy="3602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ED376A3A-69B1-D77F-21DA-19498378B57F}"/>
                </a:ext>
              </a:extLst>
            </p:cNvPr>
            <p:cNvSpPr/>
            <p:nvPr/>
          </p:nvSpPr>
          <p:spPr>
            <a:xfrm>
              <a:off x="0" y="0"/>
              <a:ext cx="5249938" cy="36026"/>
            </a:xfrm>
            <a:custGeom>
              <a:avLst/>
              <a:gdLst/>
              <a:ahLst/>
              <a:cxnLst/>
              <a:rect l="l" t="t" r="r" b="b"/>
              <a:pathLst>
                <a:path w="5249938" h="36026">
                  <a:moveTo>
                    <a:pt x="0" y="0"/>
                  </a:moveTo>
                  <a:lnTo>
                    <a:pt x="5249938" y="0"/>
                  </a:lnTo>
                  <a:lnTo>
                    <a:pt x="5249938" y="36026"/>
                  </a:lnTo>
                  <a:lnTo>
                    <a:pt x="0" y="36026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/>
            <a:lstStyle/>
            <a:p>
              <a:endParaRPr lang="fr-CM" sz="1200" dirty="0"/>
            </a:p>
          </p:txBody>
        </p:sp>
        <p:sp>
          <p:nvSpPr>
            <p:cNvPr id="27" name="TextBox 6">
              <a:extLst>
                <a:ext uri="{FF2B5EF4-FFF2-40B4-BE49-F238E27FC236}">
                  <a16:creationId xmlns:a16="http://schemas.microsoft.com/office/drawing/2014/main" id="{3A55E712-2797-4456-6703-0184E220DCF2}"/>
                </a:ext>
              </a:extLst>
            </p:cNvPr>
            <p:cNvSpPr txBox="1"/>
            <p:nvPr/>
          </p:nvSpPr>
          <p:spPr>
            <a:xfrm>
              <a:off x="0" y="-38100"/>
              <a:ext cx="5249938" cy="741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40491A38-5DF9-5B28-1927-44F45B65CE88}"/>
              </a:ext>
            </a:extLst>
          </p:cNvPr>
          <p:cNvSpPr/>
          <p:nvPr/>
        </p:nvSpPr>
        <p:spPr>
          <a:xfrm rot="10733564" flipH="1">
            <a:off x="-687227" y="-124353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/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E8DB9AF8-84CD-39AE-B1F9-A5D14C8391F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rot="5400000">
            <a:off x="712788" y="1283297"/>
            <a:ext cx="837030" cy="1038751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6728082F-E3A6-B631-EE53-4BD2293A922F}"/>
              </a:ext>
            </a:extLst>
          </p:cNvPr>
          <p:cNvSpPr txBox="1"/>
          <p:nvPr/>
        </p:nvSpPr>
        <p:spPr>
          <a:xfrm>
            <a:off x="-2143979" y="28470025"/>
            <a:ext cx="8371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600" dirty="0">
                <a:hlinkClick r:id="rId6" tooltip="https://freepngimg.com/png/14614-presentation-download-png"/>
              </a:rPr>
              <a:t>Cette photo</a:t>
            </a:r>
            <a:r>
              <a:rPr lang="fr-CM" sz="600" dirty="0"/>
              <a:t> par Auteur inconnu est soumise à la licence </a:t>
            </a:r>
            <a:r>
              <a:rPr lang="fr-CM" sz="600" dirty="0">
                <a:hlinkClick r:id="rId7" tooltip="https://creativecommons.org/licenses/by-nc/3.0/"/>
              </a:rPr>
              <a:t>CC BY-NC</a:t>
            </a:r>
            <a:endParaRPr lang="fr-CM" sz="600" dirty="0"/>
          </a:p>
        </p:txBody>
      </p:sp>
      <p:sp>
        <p:nvSpPr>
          <p:cNvPr id="53" name="TextBox 17">
            <a:extLst>
              <a:ext uri="{FF2B5EF4-FFF2-40B4-BE49-F238E27FC236}">
                <a16:creationId xmlns:a16="http://schemas.microsoft.com/office/drawing/2014/main" id="{051F9E3F-4B24-635D-EC97-2C759E6E2536}"/>
              </a:ext>
            </a:extLst>
          </p:cNvPr>
          <p:cNvSpPr txBox="1"/>
          <p:nvPr/>
        </p:nvSpPr>
        <p:spPr>
          <a:xfrm rot="5400000">
            <a:off x="-891960" y="4170659"/>
            <a:ext cx="3898435" cy="343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800" dirty="0">
                <a:solidFill>
                  <a:srgbClr val="012F7F"/>
                </a:solidFill>
                <a:latin typeface="Georgia" panose="02040502050405020303" pitchFamily="18" charset="0"/>
                <a:cs typeface="Arial" panose="020B0604020202020204" pitchFamily="34" charset="0"/>
                <a:sym typeface="ITC Benguiat Bold"/>
              </a:rPr>
              <a:t>INTRODUCTION</a:t>
            </a:r>
            <a:endParaRPr lang="en-US" sz="3000" dirty="0">
              <a:solidFill>
                <a:srgbClr val="012F7F"/>
              </a:solidFill>
              <a:latin typeface="Georgia" panose="02040502050405020303" pitchFamily="18" charset="0"/>
              <a:cs typeface="Arial" panose="020B0604020202020204" pitchFamily="34" charset="0"/>
              <a:sym typeface="ITC Benguiat Bold"/>
            </a:endParaRPr>
          </a:p>
        </p:txBody>
      </p:sp>
      <p:sp>
        <p:nvSpPr>
          <p:cNvPr id="46" name="TextBox 13">
            <a:extLst>
              <a:ext uri="{FF2B5EF4-FFF2-40B4-BE49-F238E27FC236}">
                <a16:creationId xmlns:a16="http://schemas.microsoft.com/office/drawing/2014/main" id="{38969C1E-5159-1AE6-656E-48F699056E5A}"/>
              </a:ext>
            </a:extLst>
          </p:cNvPr>
          <p:cNvSpPr txBox="1"/>
          <p:nvPr/>
        </p:nvSpPr>
        <p:spPr>
          <a:xfrm>
            <a:off x="3220785" y="379850"/>
            <a:ext cx="7273235" cy="410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Objectifs</a:t>
            </a:r>
            <a:endParaRPr lang="en-US" sz="2800" dirty="0">
              <a:solidFill>
                <a:schemeClr val="accent6"/>
              </a:solidFill>
              <a:latin typeface="Georgia" panose="02040502050405020303" pitchFamily="18" charset="0"/>
              <a:sym typeface="ITC Benguiat Bold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C9235A-1F0A-F9FE-5AB2-5A11FB1E4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4</a:t>
            </a:fld>
            <a:endParaRPr lang="fr-FR"/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A138FBD2-A8BA-3FD7-698E-00F1CFAE1B80}"/>
              </a:ext>
            </a:extLst>
          </p:cNvPr>
          <p:cNvSpPr txBox="1"/>
          <p:nvPr/>
        </p:nvSpPr>
        <p:spPr>
          <a:xfrm>
            <a:off x="2186619" y="1297042"/>
            <a:ext cx="9755275" cy="2779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fr-FR" sz="2000" b="1" dirty="0">
                <a:latin typeface="Georgia" panose="02040502050405020303" pitchFamily="18" charset="0"/>
                <a:sym typeface="ITC Benguiat Bold"/>
              </a:rPr>
              <a:t>Adapter le </a:t>
            </a:r>
            <a:r>
              <a:rPr lang="fr-FR" sz="2000" b="1" dirty="0" err="1">
                <a:latin typeface="Georgia" panose="02040502050405020303" pitchFamily="18" charset="0"/>
                <a:sym typeface="ITC Benguiat Bold"/>
              </a:rPr>
              <a:t>Elastic</a:t>
            </a:r>
            <a:r>
              <a:rPr lang="fr-FR" sz="2000" b="1" dirty="0">
                <a:latin typeface="Georgia" panose="02040502050405020303" pitchFamily="18" charset="0"/>
                <a:sym typeface="ITC Benguiat Bold"/>
              </a:rPr>
              <a:t> Net, </a:t>
            </a:r>
            <a:r>
              <a:rPr lang="fr-FR" sz="2000" b="1" dirty="0" err="1">
                <a:latin typeface="Georgia" panose="02040502050405020303" pitchFamily="18" charset="0"/>
                <a:sym typeface="ITC Benguiat Bold"/>
              </a:rPr>
              <a:t>Feature</a:t>
            </a:r>
            <a:r>
              <a:rPr lang="fr-FR" sz="2000" b="1" dirty="0">
                <a:latin typeface="Georgia" panose="02040502050405020303" pitchFamily="18" charset="0"/>
                <a:sym typeface="ITC Benguiat Bold"/>
              </a:rPr>
              <a:t> </a:t>
            </a:r>
            <a:r>
              <a:rPr lang="fr-FR" sz="2000" b="1" dirty="0" err="1">
                <a:latin typeface="Georgia" panose="02040502050405020303" pitchFamily="18" charset="0"/>
                <a:sym typeface="ITC Benguiat Bold"/>
              </a:rPr>
              <a:t>weight</a:t>
            </a:r>
            <a:r>
              <a:rPr lang="fr-FR" sz="2000" b="1" dirty="0">
                <a:latin typeface="Georgia" panose="02040502050405020303" pitchFamily="18" charset="0"/>
                <a:sym typeface="ITC Benguiat Bold"/>
              </a:rPr>
              <a:t> </a:t>
            </a:r>
            <a:r>
              <a:rPr lang="fr-FR" sz="2000" b="1" dirty="0" err="1">
                <a:latin typeface="Georgia" panose="02040502050405020303" pitchFamily="18" charset="0"/>
                <a:sym typeface="ITC Benguiat Bold"/>
              </a:rPr>
              <a:t>Elastic</a:t>
            </a:r>
            <a:r>
              <a:rPr lang="fr-FR" sz="2000" b="1" dirty="0">
                <a:latin typeface="Georgia" panose="02040502050405020303" pitchFamily="18" charset="0"/>
                <a:sym typeface="ITC Benguiat Bold"/>
              </a:rPr>
              <a:t> Net : </a:t>
            </a:r>
            <a:r>
              <a:rPr lang="en-US" sz="2000" dirty="0" err="1">
                <a:latin typeface="Georgia" panose="02040502050405020303" pitchFamily="18" charset="0"/>
              </a:rPr>
              <a:t>Étendre</a:t>
            </a:r>
            <a:r>
              <a:rPr lang="en-US" sz="2000" dirty="0">
                <a:latin typeface="Georgia" panose="02040502050405020303" pitchFamily="18" charset="0"/>
              </a:rPr>
              <a:t> le feature-weighted elastic net  </a:t>
            </a:r>
            <a:r>
              <a:rPr lang="en-US" sz="2000" dirty="0" err="1">
                <a:latin typeface="Georgia" panose="02040502050405020303" pitchFamily="18" charset="0"/>
              </a:rPr>
              <a:t>conçu</a:t>
            </a:r>
            <a:r>
              <a:rPr lang="en-US" sz="2000" dirty="0">
                <a:latin typeface="Georgia" panose="02040502050405020303" pitchFamily="18" charset="0"/>
              </a:rPr>
              <a:t> pour la </a:t>
            </a:r>
            <a:r>
              <a:rPr lang="en-US" sz="2000" dirty="0" err="1">
                <a:latin typeface="Georgia" panose="02040502050405020303" pitchFamily="18" charset="0"/>
              </a:rPr>
              <a:t>régression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classique</a:t>
            </a:r>
            <a:r>
              <a:rPr lang="en-US" sz="2000" dirty="0">
                <a:latin typeface="Georgia" panose="02040502050405020303" pitchFamily="18" charset="0"/>
              </a:rPr>
              <a:t>  au </a:t>
            </a:r>
            <a:r>
              <a:rPr lang="en-US" sz="2000" dirty="0" err="1">
                <a:latin typeface="Georgia" panose="02040502050405020303" pitchFamily="18" charset="0"/>
              </a:rPr>
              <a:t>modèle</a:t>
            </a:r>
            <a:r>
              <a:rPr lang="en-US" sz="2000" dirty="0">
                <a:latin typeface="Georgia" panose="02040502050405020303" pitchFamily="18" charset="0"/>
              </a:rPr>
              <a:t> de Cox et aux </a:t>
            </a:r>
            <a:r>
              <a:rPr lang="en-US" sz="2000" dirty="0" err="1">
                <a:latin typeface="Georgia" panose="02040502050405020303" pitchFamily="18" charset="0"/>
              </a:rPr>
              <a:t>risques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concurrents</a:t>
            </a:r>
            <a:r>
              <a:rPr lang="en-US" sz="2000" dirty="0">
                <a:latin typeface="Georgia" panose="02040502050405020303" pitchFamily="18" charset="0"/>
              </a:rPr>
              <a:t>.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fr-FR" sz="2000" b="1" dirty="0">
                <a:latin typeface="Georgia" panose="02040502050405020303" pitchFamily="18" charset="0"/>
              </a:rPr>
              <a:t>Algorithme coopérative</a:t>
            </a:r>
            <a:r>
              <a:rPr lang="fr-FR" sz="2000" b="1" dirty="0">
                <a:latin typeface="Georgia" panose="02040502050405020303" pitchFamily="18" charset="0"/>
                <a:sym typeface="ITC Benguiat Bold"/>
              </a:rPr>
              <a:t>: </a:t>
            </a:r>
            <a:r>
              <a:rPr lang="en-US" sz="2000" dirty="0">
                <a:latin typeface="Georgia" panose="02040502050405020303" pitchFamily="18" charset="0"/>
              </a:rPr>
              <a:t>Faire dialoguer deux </a:t>
            </a:r>
            <a:r>
              <a:rPr lang="en-US" sz="2000" dirty="0" err="1">
                <a:latin typeface="Georgia" panose="02040502050405020303" pitchFamily="18" charset="0"/>
              </a:rPr>
              <a:t>modèles</a:t>
            </a:r>
            <a:r>
              <a:rPr lang="en-US" sz="2000" dirty="0">
                <a:latin typeface="Georgia" panose="02040502050405020303" pitchFamily="18" charset="0"/>
              </a:rPr>
              <a:t> cause-</a:t>
            </a:r>
            <a:r>
              <a:rPr lang="en-US" sz="2000" dirty="0" err="1">
                <a:latin typeface="Georgia" panose="02040502050405020303" pitchFamily="18" charset="0"/>
              </a:rPr>
              <a:t>spécifiques</a:t>
            </a:r>
            <a:r>
              <a:rPr lang="en-US" sz="2000" dirty="0">
                <a:latin typeface="Georgia" panose="02040502050405020303" pitchFamily="18" charset="0"/>
              </a:rPr>
              <a:t> par </a:t>
            </a:r>
            <a:r>
              <a:rPr lang="en-US" sz="2000" dirty="0" err="1">
                <a:latin typeface="Georgia" panose="02040502050405020303" pitchFamily="18" charset="0"/>
              </a:rPr>
              <a:t>itérations</a:t>
            </a:r>
            <a:r>
              <a:rPr lang="en-US" sz="2000" dirty="0">
                <a:latin typeface="Georgia" panose="02040502050405020303" pitchFamily="18" charset="0"/>
              </a:rPr>
              <a:t>, chacun servant </a:t>
            </a:r>
            <a:r>
              <a:rPr lang="en-US" sz="2000" dirty="0" err="1">
                <a:latin typeface="Georgia" panose="02040502050405020303" pitchFamily="18" charset="0"/>
              </a:rPr>
              <a:t>d'information</a:t>
            </a:r>
            <a:r>
              <a:rPr lang="en-US" sz="2000" dirty="0">
                <a:latin typeface="Georgia" panose="02040502050405020303" pitchFamily="18" charset="0"/>
              </a:rPr>
              <a:t> a priori à </a:t>
            </a:r>
            <a:r>
              <a:rPr lang="en-US" sz="2000" dirty="0" err="1">
                <a:latin typeface="Georgia" panose="02040502050405020303" pitchFamily="18" charset="0"/>
              </a:rPr>
              <a:t>l'autre</a:t>
            </a:r>
            <a:r>
              <a:rPr lang="en-US" sz="2000" dirty="0">
                <a:latin typeface="Georgia" panose="02040502050405020303" pitchFamily="18" charset="0"/>
              </a:rPr>
              <a:t>: </a:t>
            </a:r>
            <a:r>
              <a:rPr lang="en-US" sz="2000" dirty="0" err="1">
                <a:latin typeface="Georgia" panose="02040502050405020303" pitchFamily="18" charset="0"/>
              </a:rPr>
              <a:t>l'algorithme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CooPeR</a:t>
            </a:r>
            <a:r>
              <a:rPr lang="en-US" sz="2000" dirty="0">
                <a:latin typeface="Georgia" panose="02040502050405020303" pitchFamily="18" charset="0"/>
              </a:rPr>
              <a:t>.</a:t>
            </a:r>
            <a:endParaRPr lang="fr-FR" sz="2000" dirty="0">
              <a:latin typeface="Georgia" panose="02040502050405020303" pitchFamily="18" charset="0"/>
            </a:endParaRP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fr-FR" sz="2000" b="1" dirty="0" err="1">
                <a:latin typeface="Georgia" panose="02040502050405020303" pitchFamily="18" charset="0"/>
              </a:rPr>
              <a:t>Demontrer</a:t>
            </a:r>
            <a:r>
              <a:rPr lang="fr-FR" sz="2000" b="1" dirty="0">
                <a:latin typeface="Georgia" panose="02040502050405020303" pitchFamily="18" charset="0"/>
              </a:rPr>
              <a:t> le gain empirique</a:t>
            </a:r>
            <a:r>
              <a:rPr lang="fr-FR" sz="2000" b="1" dirty="0">
                <a:latin typeface="Georgia" panose="02040502050405020303" pitchFamily="18" charset="0"/>
                <a:sym typeface="ITC Benguiat Bold"/>
              </a:rPr>
              <a:t>: </a:t>
            </a:r>
            <a:r>
              <a:rPr lang="en-US" sz="2000" dirty="0">
                <a:latin typeface="Georgia" panose="02040502050405020303" pitchFamily="18" charset="0"/>
              </a:rPr>
              <a:t>Comparer à </a:t>
            </a:r>
            <a:r>
              <a:rPr lang="en-US" sz="2000" dirty="0" err="1">
                <a:latin typeface="Georgia" panose="02040502050405020303" pitchFamily="18" charset="0"/>
              </a:rPr>
              <a:t>l'existant</a:t>
            </a:r>
            <a:r>
              <a:rPr lang="en-US" sz="2000" dirty="0">
                <a:latin typeface="Georgia" panose="02040502050405020303" pitchFamily="18" charset="0"/>
              </a:rPr>
              <a:t> (</a:t>
            </a:r>
            <a:r>
              <a:rPr lang="en-US" sz="2000" dirty="0" err="1">
                <a:latin typeface="Georgia" panose="02040502050405020303" pitchFamily="18" charset="0"/>
              </a:rPr>
              <a:t>Coxnet</a:t>
            </a:r>
            <a:r>
              <a:rPr lang="en-US" sz="2000" dirty="0">
                <a:latin typeface="Georgia" panose="02040502050405020303" pitchFamily="18" charset="0"/>
              </a:rPr>
              <a:t>, </a:t>
            </a:r>
            <a:r>
              <a:rPr lang="en-US" sz="2000" dirty="0" err="1">
                <a:latin typeface="Georgia" panose="02040502050405020303" pitchFamily="18" charset="0"/>
              </a:rPr>
              <a:t>forêts</a:t>
            </a:r>
            <a:r>
              <a:rPr lang="en-US" sz="2000" dirty="0">
                <a:latin typeface="Georgia" panose="02040502050405020303" pitchFamily="18" charset="0"/>
              </a:rPr>
              <a:t> de </a:t>
            </a:r>
            <a:r>
              <a:rPr lang="en-US" sz="2000" dirty="0" err="1">
                <a:latin typeface="Georgia" panose="02040502050405020303" pitchFamily="18" charset="0"/>
              </a:rPr>
              <a:t>survie</a:t>
            </a:r>
            <a:r>
              <a:rPr lang="en-US" sz="2000" dirty="0">
                <a:latin typeface="Georgia" panose="02040502050405020303" pitchFamily="18" charset="0"/>
              </a:rPr>
              <a:t>, </a:t>
            </a:r>
            <a:r>
              <a:rPr lang="en-US" sz="2000" dirty="0" err="1">
                <a:latin typeface="Georgia" panose="02040502050405020303" pitchFamily="18" charset="0"/>
              </a:rPr>
              <a:t>CoxBoost</a:t>
            </a:r>
            <a:r>
              <a:rPr lang="en-US" sz="2000" dirty="0">
                <a:latin typeface="Georgia" panose="02040502050405020303" pitchFamily="18" charset="0"/>
              </a:rPr>
              <a:t>) </a:t>
            </a:r>
            <a:r>
              <a:rPr lang="en-US" sz="2000" dirty="0" err="1">
                <a:latin typeface="Georgia" panose="02040502050405020303" pitchFamily="18" charset="0"/>
              </a:rPr>
              <a:t>en</a:t>
            </a:r>
            <a:r>
              <a:rPr lang="en-US" sz="2000" dirty="0">
                <a:latin typeface="Georgia" panose="02040502050405020303" pitchFamily="18" charset="0"/>
              </a:rPr>
              <a:t> simulation </a:t>
            </a:r>
            <a:r>
              <a:rPr lang="en-US" sz="2000" dirty="0" err="1">
                <a:latin typeface="Georgia" panose="02040502050405020303" pitchFamily="18" charset="0"/>
              </a:rPr>
              <a:t>puis</a:t>
            </a:r>
            <a:r>
              <a:rPr lang="en-US" sz="2000" dirty="0">
                <a:latin typeface="Georgia" panose="02040502050405020303" pitchFamily="18" charset="0"/>
              </a:rPr>
              <a:t> sur des données </a:t>
            </a:r>
            <a:r>
              <a:rPr lang="en-US" sz="2000" dirty="0" err="1">
                <a:latin typeface="Georgia" panose="02040502050405020303" pitchFamily="18" charset="0"/>
              </a:rPr>
              <a:t>réelles</a:t>
            </a:r>
            <a:r>
              <a:rPr lang="en-US" sz="2000" dirty="0">
                <a:latin typeface="Georgia" panose="02040502050405020303" pitchFamily="18" charset="0"/>
              </a:rPr>
              <a:t> de cancer.</a:t>
            </a:r>
            <a:endParaRPr lang="fr-FR" sz="2000" dirty="0">
              <a:latin typeface="Georgia" panose="02040502050405020303" pitchFamily="18" charset="0"/>
              <a:sym typeface="Wingdings" panose="05000000000000000000" pitchFamily="2" charset="2"/>
            </a:endParaRPr>
          </a:p>
          <a:p>
            <a:pPr algn="just">
              <a:lnSpc>
                <a:spcPts val="2640"/>
              </a:lnSpc>
            </a:pPr>
            <a:endParaRPr lang="en-US" sz="2000" dirty="0">
              <a:solidFill>
                <a:srgbClr val="000000"/>
              </a:solidFill>
              <a:latin typeface="Bree Serif"/>
              <a:sym typeface="ITC Benguiat Bold"/>
            </a:endParaRPr>
          </a:p>
        </p:txBody>
      </p:sp>
    </p:spTree>
    <p:extLst>
      <p:ext uri="{BB962C8B-B14F-4D97-AF65-F5344CB8AC3E}">
        <p14:creationId xmlns:p14="http://schemas.microsoft.com/office/powerpoint/2010/main" val="4225533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200705" y="1950215"/>
            <a:ext cx="5057681" cy="4338153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1520745" y="2178815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PÉNALITÉ DE BASE (ELASTIC NET)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520745" y="2681735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J(β) = ½‖y − Xβ‖² + λ Σ ( α|βⱼ| + (1−α)/2 · βⱼ² )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520745" y="3662091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1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pénalité LASSO pure : seule celle-ci met des coefficients exactement à zéro →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 variables.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λ pénalise </a:t>
            </a: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variables de la même façon.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75747" y="1950215"/>
            <a:ext cx="5400207" cy="4434840"/>
          </a:xfrm>
          <a:prstGeom prst="roundRect">
            <a:avLst>
              <a:gd name="adj" fmla="val 1649"/>
            </a:avLst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6572435" y="217881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FWELNET : UN POIDS PAR VARIABLE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72435" y="2681735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J(β) = ½‖y − Xβ‖² + λ Σ  wⱼ(θ) · ( α|βⱼ| + </a:t>
            </a:r>
            <a:r>
              <a:rPr lang="en-US" sz="1550" dirty="0"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(1−α)/2 · βⱼ² </a:t>
            </a:r>
            <a:r>
              <a:rPr lang="en-US" sz="1550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572435" y="3367535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information a priori Z (ex : les coefficients d'un autre modèle) fixe un poids wⱼ(θ) par variable 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39890" y="4046590"/>
            <a:ext cx="4663440" cy="4969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6C7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7040125" y="3949155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Z  →  petit poids  →  </a:t>
            </a:r>
            <a:r>
              <a:rPr lang="en-US" sz="1350" b="1" dirty="0">
                <a:solidFill>
                  <a:srgbClr val="0E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protégée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39890" y="4599730"/>
            <a:ext cx="5029200" cy="470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7040125" y="44648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Z  →  grand poids  →  </a:t>
            </a:r>
            <a:r>
              <a:rPr lang="en-US" sz="135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éliminée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AutoShape 61">
            <a:extLst>
              <a:ext uri="{FF2B5EF4-FFF2-40B4-BE49-F238E27FC236}">
                <a16:creationId xmlns:a16="http://schemas.microsoft.com/office/drawing/2014/main" id="{94F3E569-EDC4-A1A7-9EFC-56B0162BF094}"/>
              </a:ext>
            </a:extLst>
          </p:cNvPr>
          <p:cNvSpPr/>
          <p:nvPr/>
        </p:nvSpPr>
        <p:spPr>
          <a:xfrm rot="5400000">
            <a:off x="-3908280" y="4163181"/>
            <a:ext cx="10003955" cy="1194"/>
          </a:xfrm>
          <a:prstGeom prst="line">
            <a:avLst/>
          </a:prstGeom>
          <a:ln w="57150" cap="flat">
            <a:solidFill>
              <a:srgbClr val="CD76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DA0A19E8-4655-A04B-3242-510AFF5C3B27}"/>
              </a:ext>
            </a:extLst>
          </p:cNvPr>
          <p:cNvSpPr/>
          <p:nvPr/>
        </p:nvSpPr>
        <p:spPr>
          <a:xfrm rot="5400000" flipH="1">
            <a:off x="-1329507" y="251119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5ECAB0A3-0C4D-BD92-055F-72548A2FB407}"/>
              </a:ext>
            </a:extLst>
          </p:cNvPr>
          <p:cNvGrpSpPr/>
          <p:nvPr/>
        </p:nvGrpSpPr>
        <p:grpSpPr>
          <a:xfrm>
            <a:off x="-72018" y="1047397"/>
            <a:ext cx="13288906" cy="91191"/>
            <a:chOff x="0" y="0"/>
            <a:chExt cx="5249938" cy="36026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DBC7F49C-6F0C-7D29-630A-E64E4430453A}"/>
                </a:ext>
              </a:extLst>
            </p:cNvPr>
            <p:cNvSpPr/>
            <p:nvPr/>
          </p:nvSpPr>
          <p:spPr>
            <a:xfrm>
              <a:off x="0" y="0"/>
              <a:ext cx="5249938" cy="36026"/>
            </a:xfrm>
            <a:custGeom>
              <a:avLst/>
              <a:gdLst/>
              <a:ahLst/>
              <a:cxnLst/>
              <a:rect l="l" t="t" r="r" b="b"/>
              <a:pathLst>
                <a:path w="5249938" h="36026">
                  <a:moveTo>
                    <a:pt x="0" y="0"/>
                  </a:moveTo>
                  <a:lnTo>
                    <a:pt x="5249938" y="0"/>
                  </a:lnTo>
                  <a:lnTo>
                    <a:pt x="5249938" y="36026"/>
                  </a:lnTo>
                  <a:lnTo>
                    <a:pt x="0" y="36026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/>
            <a:lstStyle/>
            <a:p>
              <a:endParaRPr lang="fr-CM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2E26ABC4-8AB1-99AC-D06A-53FA86A37152}"/>
                </a:ext>
              </a:extLst>
            </p:cNvPr>
            <p:cNvSpPr txBox="1"/>
            <p:nvPr/>
          </p:nvSpPr>
          <p:spPr>
            <a:xfrm>
              <a:off x="0" y="-38100"/>
              <a:ext cx="5249938" cy="741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Freeform 2">
            <a:extLst>
              <a:ext uri="{FF2B5EF4-FFF2-40B4-BE49-F238E27FC236}">
                <a16:creationId xmlns:a16="http://schemas.microsoft.com/office/drawing/2014/main" id="{1410DA98-56F8-FAC9-4E50-1C039B8583A2}"/>
              </a:ext>
            </a:extLst>
          </p:cNvPr>
          <p:cNvSpPr/>
          <p:nvPr/>
        </p:nvSpPr>
        <p:spPr>
          <a:xfrm rot="10733564" flipH="1">
            <a:off x="-687227" y="-124353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083B226C-7749-1E7B-C1B0-569F5CB2B24E}"/>
              </a:ext>
            </a:extLst>
          </p:cNvPr>
          <p:cNvSpPr/>
          <p:nvPr/>
        </p:nvSpPr>
        <p:spPr>
          <a:xfrm flipH="1">
            <a:off x="8080941" y="3457346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D3EE138A-16C8-4AF7-C769-FECB40CA0824}"/>
              </a:ext>
            </a:extLst>
          </p:cNvPr>
          <p:cNvSpPr txBox="1"/>
          <p:nvPr/>
        </p:nvSpPr>
        <p:spPr>
          <a:xfrm rot="5400000">
            <a:off x="-1180474" y="3886831"/>
            <a:ext cx="3548276" cy="343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800" dirty="0">
                <a:solidFill>
                  <a:srgbClr val="012F7F"/>
                </a:solidFill>
                <a:latin typeface="Arial" panose="020B0604020202020204" pitchFamily="34" charset="0"/>
                <a:ea typeface="ITC Benguiat Bold"/>
                <a:cs typeface="Arial" panose="020B0604020202020204" pitchFamily="34" charset="0"/>
                <a:sym typeface="ITC Benguiat Bold"/>
              </a:rPr>
              <a:t>METHODOLOGIE</a:t>
            </a:r>
          </a:p>
        </p:txBody>
      </p:sp>
      <p:pic>
        <p:nvPicPr>
          <p:cNvPr id="27" name="Graphique 77" descr="Recherches">
            <a:extLst>
              <a:ext uri="{FF2B5EF4-FFF2-40B4-BE49-F238E27FC236}">
                <a16:creationId xmlns:a16="http://schemas.microsoft.com/office/drawing/2014/main" id="{1FA5E675-48E6-2FA2-4549-E8D78B6EA9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886" y="1491023"/>
            <a:ext cx="609600" cy="609600"/>
          </a:xfrm>
          <a:prstGeom prst="rect">
            <a:avLst/>
          </a:prstGeom>
        </p:spPr>
      </p:pic>
      <p:sp>
        <p:nvSpPr>
          <p:cNvPr id="31" name="Text 2">
            <a:extLst>
              <a:ext uri="{FF2B5EF4-FFF2-40B4-BE49-F238E27FC236}">
                <a16:creationId xmlns:a16="http://schemas.microsoft.com/office/drawing/2014/main" id="{0DBAF434-0124-E6C0-3896-C7B3E1F5BCD7}"/>
              </a:ext>
            </a:extLst>
          </p:cNvPr>
          <p:cNvSpPr txBox="1"/>
          <p:nvPr/>
        </p:nvSpPr>
        <p:spPr>
          <a:xfrm>
            <a:off x="2667680" y="1230631"/>
            <a:ext cx="7932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L'ELASTIC NET AU FEATURE-WEIGHTED ELASTIC NET</a:t>
            </a:r>
            <a:endParaRPr lang="en-US" sz="2200" dirty="0"/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E9853340-78A2-B4CF-A62B-CC39899E7B55}"/>
              </a:ext>
            </a:extLst>
          </p:cNvPr>
          <p:cNvSpPr txBox="1"/>
          <p:nvPr/>
        </p:nvSpPr>
        <p:spPr>
          <a:xfrm>
            <a:off x="1155909" y="188069"/>
            <a:ext cx="10991295" cy="8461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Du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Elastic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Net ,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Feature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weight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Elastic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Net(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fwelnet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) au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Cooperative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Penalized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Regression</a:t>
            </a:r>
            <a:endParaRPr lang="fr-FR" sz="2800" dirty="0">
              <a:solidFill>
                <a:schemeClr val="accent6"/>
              </a:solidFill>
              <a:latin typeface="Georgia" panose="02040502050405020303" pitchFamily="18" charset="0"/>
              <a:sym typeface="ITC Benguiat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BCB3F786-D0CA-5473-CD10-9E81210C97FD}"/>
                  </a:ext>
                </a:extLst>
              </p:cNvPr>
              <p:cNvSpPr txBox="1"/>
              <p:nvPr/>
            </p:nvSpPr>
            <p:spPr>
              <a:xfrm>
                <a:off x="6692678" y="5389843"/>
                <a:ext cx="5029200" cy="619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1E276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	wⱼ(θ)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brk m:alnAt="23"/>
                              </m:rP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sSubSup>
                              <m:sSub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⁡(</m:t>
                        </m:r>
                        <m:sSubSup>
                          <m:sSub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BCB3F786-D0CA-5473-CD10-9E81210C9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678" y="5389843"/>
                <a:ext cx="5029200" cy="6194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C7237-9B4D-E76A-BECB-1C523796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41C49FA3-C577-24EB-A7D5-96BE98C0320A}"/>
              </a:ext>
            </a:extLst>
          </p:cNvPr>
          <p:cNvSpPr/>
          <p:nvPr/>
        </p:nvSpPr>
        <p:spPr>
          <a:xfrm>
            <a:off x="1200706" y="1950215"/>
            <a:ext cx="4891709" cy="4338153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E7F2858-B1C7-8190-D006-8B24A5048FE7}"/>
              </a:ext>
            </a:extLst>
          </p:cNvPr>
          <p:cNvSpPr/>
          <p:nvPr/>
        </p:nvSpPr>
        <p:spPr>
          <a:xfrm>
            <a:off x="6148640" y="1990729"/>
            <a:ext cx="5969691" cy="4394326"/>
          </a:xfrm>
          <a:prstGeom prst="roundRect">
            <a:avLst>
              <a:gd name="adj" fmla="val 1649"/>
            </a:avLst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9663E17-E473-B059-529C-97100236F276}"/>
              </a:ext>
            </a:extLst>
          </p:cNvPr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AutoShape 61">
            <a:extLst>
              <a:ext uri="{FF2B5EF4-FFF2-40B4-BE49-F238E27FC236}">
                <a16:creationId xmlns:a16="http://schemas.microsoft.com/office/drawing/2014/main" id="{6D34C037-19BD-E238-BB35-33412B2A4AE5}"/>
              </a:ext>
            </a:extLst>
          </p:cNvPr>
          <p:cNvSpPr/>
          <p:nvPr/>
        </p:nvSpPr>
        <p:spPr>
          <a:xfrm rot="5400000">
            <a:off x="-3908280" y="4163181"/>
            <a:ext cx="10003955" cy="1194"/>
          </a:xfrm>
          <a:prstGeom prst="line">
            <a:avLst/>
          </a:prstGeom>
          <a:ln w="57150" cap="flat">
            <a:solidFill>
              <a:srgbClr val="CD76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F930C145-6B1E-9812-45EB-40BADAFCA938}"/>
              </a:ext>
            </a:extLst>
          </p:cNvPr>
          <p:cNvSpPr/>
          <p:nvPr/>
        </p:nvSpPr>
        <p:spPr>
          <a:xfrm rot="5400000" flipH="1">
            <a:off x="-1329507" y="251119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548D800B-74B2-3CB3-A178-B59D20ADCCB5}"/>
              </a:ext>
            </a:extLst>
          </p:cNvPr>
          <p:cNvGrpSpPr/>
          <p:nvPr/>
        </p:nvGrpSpPr>
        <p:grpSpPr>
          <a:xfrm>
            <a:off x="-72018" y="1047397"/>
            <a:ext cx="13288906" cy="91191"/>
            <a:chOff x="0" y="0"/>
            <a:chExt cx="5249938" cy="36026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A940A9D3-2D1E-7F27-DB1E-4702D1A2AF4E}"/>
                </a:ext>
              </a:extLst>
            </p:cNvPr>
            <p:cNvSpPr/>
            <p:nvPr/>
          </p:nvSpPr>
          <p:spPr>
            <a:xfrm>
              <a:off x="0" y="0"/>
              <a:ext cx="5249938" cy="36026"/>
            </a:xfrm>
            <a:custGeom>
              <a:avLst/>
              <a:gdLst/>
              <a:ahLst/>
              <a:cxnLst/>
              <a:rect l="l" t="t" r="r" b="b"/>
              <a:pathLst>
                <a:path w="5249938" h="36026">
                  <a:moveTo>
                    <a:pt x="0" y="0"/>
                  </a:moveTo>
                  <a:lnTo>
                    <a:pt x="5249938" y="0"/>
                  </a:lnTo>
                  <a:lnTo>
                    <a:pt x="5249938" y="36026"/>
                  </a:lnTo>
                  <a:lnTo>
                    <a:pt x="0" y="36026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/>
            <a:lstStyle/>
            <a:p>
              <a:endParaRPr lang="fr-CM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2EFEE259-BFF9-AB8F-0CED-5333503F3DAA}"/>
                </a:ext>
              </a:extLst>
            </p:cNvPr>
            <p:cNvSpPr txBox="1"/>
            <p:nvPr/>
          </p:nvSpPr>
          <p:spPr>
            <a:xfrm>
              <a:off x="0" y="-38100"/>
              <a:ext cx="5249938" cy="741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Freeform 2">
            <a:extLst>
              <a:ext uri="{FF2B5EF4-FFF2-40B4-BE49-F238E27FC236}">
                <a16:creationId xmlns:a16="http://schemas.microsoft.com/office/drawing/2014/main" id="{FFB4ED8D-7BB1-8EB4-26D4-F5C45210AAA6}"/>
              </a:ext>
            </a:extLst>
          </p:cNvPr>
          <p:cNvSpPr/>
          <p:nvPr/>
        </p:nvSpPr>
        <p:spPr>
          <a:xfrm rot="10733564" flipH="1">
            <a:off x="-687227" y="-124353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3F1EE97A-87E7-76C4-7FF4-DD18A63CC123}"/>
              </a:ext>
            </a:extLst>
          </p:cNvPr>
          <p:cNvSpPr/>
          <p:nvPr/>
        </p:nvSpPr>
        <p:spPr>
          <a:xfrm flipH="1">
            <a:off x="8080941" y="3457346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9F36E73C-CD76-EA83-D493-BD6D32B063A7}"/>
              </a:ext>
            </a:extLst>
          </p:cNvPr>
          <p:cNvSpPr txBox="1"/>
          <p:nvPr/>
        </p:nvSpPr>
        <p:spPr>
          <a:xfrm rot="5400000">
            <a:off x="-1180474" y="3886831"/>
            <a:ext cx="3548276" cy="343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800" dirty="0">
                <a:solidFill>
                  <a:srgbClr val="012F7F"/>
                </a:solidFill>
                <a:latin typeface="Arial" panose="020B0604020202020204" pitchFamily="34" charset="0"/>
                <a:ea typeface="ITC Benguiat Bold"/>
                <a:cs typeface="Arial" panose="020B0604020202020204" pitchFamily="34" charset="0"/>
                <a:sym typeface="ITC Benguiat Bold"/>
              </a:rPr>
              <a:t>METHODOLOGIE</a:t>
            </a:r>
          </a:p>
        </p:txBody>
      </p:sp>
      <p:pic>
        <p:nvPicPr>
          <p:cNvPr id="27" name="Graphique 77" descr="Recherches">
            <a:extLst>
              <a:ext uri="{FF2B5EF4-FFF2-40B4-BE49-F238E27FC236}">
                <a16:creationId xmlns:a16="http://schemas.microsoft.com/office/drawing/2014/main" id="{2042E861-5FEA-41E6-3877-AE25D8B26F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886" y="1491023"/>
            <a:ext cx="609600" cy="609600"/>
          </a:xfrm>
          <a:prstGeom prst="rect">
            <a:avLst/>
          </a:prstGeom>
        </p:spPr>
      </p:pic>
      <p:sp>
        <p:nvSpPr>
          <p:cNvPr id="31" name="Text 2">
            <a:extLst>
              <a:ext uri="{FF2B5EF4-FFF2-40B4-BE49-F238E27FC236}">
                <a16:creationId xmlns:a16="http://schemas.microsoft.com/office/drawing/2014/main" id="{AF482C71-0533-A0FA-99EB-9A7A37E64F35}"/>
              </a:ext>
            </a:extLst>
          </p:cNvPr>
          <p:cNvSpPr txBox="1"/>
          <p:nvPr/>
        </p:nvSpPr>
        <p:spPr>
          <a:xfrm>
            <a:off x="2667680" y="1230631"/>
            <a:ext cx="7932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FWELNET AU FWCOXNET : L'EXTENSION À LA SURVIE</a:t>
            </a:r>
            <a:endParaRPr lang="en-US" sz="2200" dirty="0"/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A88950F0-F155-ACF0-D8A9-10204486C3D8}"/>
              </a:ext>
            </a:extLst>
          </p:cNvPr>
          <p:cNvSpPr txBox="1"/>
          <p:nvPr/>
        </p:nvSpPr>
        <p:spPr>
          <a:xfrm>
            <a:off x="1155909" y="188069"/>
            <a:ext cx="10991295" cy="8461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Du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Elastic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Net ,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Feature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weight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Elastic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Net(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fwelnet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) au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Cooperative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Penalized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Regression</a:t>
            </a:r>
            <a:endParaRPr lang="fr-FR" sz="2800" dirty="0">
              <a:solidFill>
                <a:schemeClr val="accent6"/>
              </a:solidFill>
              <a:latin typeface="Georgia" panose="02040502050405020303" pitchFamily="18" charset="0"/>
              <a:sym typeface="ITC Benguiat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71A0789C-82CA-8D41-6F9A-923D92E26CF5}"/>
                  </a:ext>
                </a:extLst>
              </p:cNvPr>
              <p:cNvSpPr txBox="1"/>
              <p:nvPr/>
            </p:nvSpPr>
            <p:spPr>
              <a:xfrm>
                <a:off x="6692678" y="5389843"/>
                <a:ext cx="5029200" cy="619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1E276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	wⱼ(θ)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brk m:alnAt="23"/>
                              </m:rP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sSubSup>
                              <m:sSub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⁡(</m:t>
                        </m:r>
                        <m:sSubSup>
                          <m:sSub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71A0789C-82CA-8D41-6F9A-923D92E26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678" y="5389843"/>
                <a:ext cx="5029200" cy="6194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4">
            <a:extLst>
              <a:ext uri="{FF2B5EF4-FFF2-40B4-BE49-F238E27FC236}">
                <a16:creationId xmlns:a16="http://schemas.microsoft.com/office/drawing/2014/main" id="{27FBF759-B0E9-02D3-E331-43FBF678A40C}"/>
              </a:ext>
            </a:extLst>
          </p:cNvPr>
          <p:cNvSpPr txBox="1"/>
          <p:nvPr/>
        </p:nvSpPr>
        <p:spPr>
          <a:xfrm>
            <a:off x="1971971" y="204915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DE LA SURVIE (RAPPEL)</a:t>
            </a:r>
            <a:endParaRPr lang="en-US" sz="125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C202318-7EFC-C7F9-70CA-50C6A170696B}"/>
              </a:ext>
            </a:extLst>
          </p:cNvPr>
          <p:cNvSpPr txBox="1"/>
          <p:nvPr/>
        </p:nvSpPr>
        <p:spPr>
          <a:xfrm>
            <a:off x="1571467" y="252353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Tᵢ = min(Yᵢ, Cᵢ)     observations (tᵢ, δᵢ, xᵢ)</a:t>
            </a:r>
            <a:endParaRPr lang="en-US" sz="14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9A69BE6D-CE07-7E4C-EFC4-7CD88B3EE3F8}"/>
              </a:ext>
            </a:extLst>
          </p:cNvPr>
          <p:cNvSpPr txBox="1"/>
          <p:nvPr/>
        </p:nvSpPr>
        <p:spPr>
          <a:xfrm>
            <a:off x="1571467" y="293501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temps réel de l'événement, </a:t>
            </a: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Cᵢ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temps de censure. On observe le plus petit des deux.</a:t>
            </a:r>
            <a:endParaRPr lang="en-US" sz="125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E01BB226-2619-2169-CDF1-8F1BAEBB1B71}"/>
              </a:ext>
            </a:extLst>
          </p:cNvPr>
          <p:cNvSpPr txBox="1"/>
          <p:nvPr/>
        </p:nvSpPr>
        <p:spPr>
          <a:xfrm>
            <a:off x="1585793" y="46440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Cox cause </a:t>
            </a:r>
            <a:r>
              <a:rPr lang="en-US" sz="125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spécifique</a:t>
            </a:r>
            <a:endParaRPr lang="en-US" sz="1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9">
                <a:extLst>
                  <a:ext uri="{FF2B5EF4-FFF2-40B4-BE49-F238E27FC236}">
                    <a16:creationId xmlns:a16="http://schemas.microsoft.com/office/drawing/2014/main" id="{79578EB8-4306-6F53-F276-8405A9AAA151}"/>
                  </a:ext>
                </a:extLst>
              </p:cNvPr>
              <p:cNvSpPr txBox="1"/>
              <p:nvPr/>
            </p:nvSpPr>
            <p:spPr>
              <a:xfrm>
                <a:off x="1585793" y="4964128"/>
                <a:ext cx="44805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ℎ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𝑡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| 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𝑥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ᵢ) = 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ℎ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₀</m:t>
                      </m:r>
                      <m:r>
                        <a:rPr lang="fr-FR" sz="1600" b="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𝑘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𝑡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) · </m:t>
                      </m:r>
                      <m:r>
                        <m:rPr>
                          <m:sty m:val="p"/>
                        </m:rP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exp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⁡(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𝛽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ᵀ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𝑥</m:t>
                      </m:r>
                      <m:r>
                        <a:rPr lang="en-US" sz="160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ᵢ)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6" name="Text 9">
                <a:extLst>
                  <a:ext uri="{FF2B5EF4-FFF2-40B4-BE49-F238E27FC236}">
                    <a16:creationId xmlns:a16="http://schemas.microsoft.com/office/drawing/2014/main" id="{79578EB8-4306-6F53-F276-8405A9AAA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793" y="4964128"/>
                <a:ext cx="448056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 10">
            <a:extLst>
              <a:ext uri="{FF2B5EF4-FFF2-40B4-BE49-F238E27FC236}">
                <a16:creationId xmlns:a16="http://schemas.microsoft.com/office/drawing/2014/main" id="{76D8A6B6-C74D-3437-181B-E6010C5E8361}"/>
              </a:ext>
            </a:extLst>
          </p:cNvPr>
          <p:cNvSpPr txBox="1"/>
          <p:nvPr/>
        </p:nvSpPr>
        <p:spPr>
          <a:xfrm>
            <a:off x="1585793" y="5512768"/>
            <a:ext cx="4480560" cy="720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h₀(t)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risque de base  jamais estimé directement, grâce à la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vraisemblance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partielle</a:t>
            </a:r>
            <a:endParaRPr lang="en-US" sz="13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1BC3905C-A716-6E74-5BDD-9D3D9915CE08}"/>
              </a:ext>
            </a:extLst>
          </p:cNvPr>
          <p:cNvSpPr txBox="1"/>
          <p:nvPr/>
        </p:nvSpPr>
        <p:spPr>
          <a:xfrm>
            <a:off x="6979920" y="2024763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FWCOXNET</a:t>
            </a:r>
            <a:endParaRPr lang="en-US" sz="1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13">
                <a:extLst>
                  <a:ext uri="{FF2B5EF4-FFF2-40B4-BE49-F238E27FC236}">
                    <a16:creationId xmlns:a16="http://schemas.microsoft.com/office/drawing/2014/main" id="{435D2B42-ED04-6D00-06FA-FEF5B91C73D1}"/>
                  </a:ext>
                </a:extLst>
              </p:cNvPr>
              <p:cNvSpPr txBox="1"/>
              <p:nvPr/>
            </p:nvSpPr>
            <p:spPr>
              <a:xfrm>
                <a:off x="6177512" y="2309672"/>
                <a:ext cx="5969692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𝛽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̂,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𝜃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̂) = </m:t>
                      </m:r>
                      <m:r>
                        <a:rPr lang="en-US" sz="1350" i="1" dirty="0" err="1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𝑎𝑟𝑔𝑚𝑖𝑛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1350" i="0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Σ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𝑁𝐿𝐿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1350" i="1" dirty="0" err="1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𝑡</m:t>
                      </m:r>
                      <m:r>
                        <a:rPr lang="en-US" sz="1350" i="1" dirty="0" err="1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ᵢ,</m:t>
                      </m:r>
                      <m:r>
                        <a:rPr lang="en-US" sz="1350" i="1" dirty="0" err="1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𝛿</m:t>
                      </m:r>
                      <m:r>
                        <a:rPr lang="en-US" sz="1350" i="1" dirty="0" err="1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ᵢ,</m:t>
                      </m:r>
                      <m:r>
                        <a:rPr lang="en-US" sz="1350" i="1" dirty="0" err="1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𝑥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ᵢᵀ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𝛽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)  +  </m:t>
                      </m:r>
                      <m:r>
                        <a:rPr lang="en-US" sz="1350" i="1" dirty="0" err="1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𝜆</m:t>
                      </m:r>
                      <m:r>
                        <m:rPr>
                          <m:sty m:val="p"/>
                        </m:rPr>
                        <a:rPr lang="en-US" sz="1350" i="0" dirty="0" err="1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Σ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𝑤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ⱼ(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𝜃</m:t>
                      </m:r>
                      <m:r>
                        <a:rPr lang="en-US" sz="135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)[( </m:t>
                      </m:r>
                      <m:r>
                        <a:rPr lang="en-US" sz="140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𝛼</m:t>
                      </m:r>
                      <m:r>
                        <a:rPr lang="en-US" sz="140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|</m:t>
                      </m:r>
                      <m:r>
                        <a:rPr lang="en-US" sz="140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𝛽</m:t>
                      </m:r>
                      <m:r>
                        <a:rPr lang="en-US" sz="140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ⱼ| + (1−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𝛼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)/2 · 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𝛽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ⱼ² ) ]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42" name="Text 13">
                <a:extLst>
                  <a:ext uri="{FF2B5EF4-FFF2-40B4-BE49-F238E27FC236}">
                    <a16:creationId xmlns:a16="http://schemas.microsoft.com/office/drawing/2014/main" id="{435D2B42-ED04-6D00-06FA-FEF5B91C7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512" y="2309672"/>
                <a:ext cx="5969692" cy="685800"/>
              </a:xfrm>
              <a:prstGeom prst="rect">
                <a:avLst/>
              </a:prstGeom>
              <a:blipFill>
                <a:blip r:embed="rId8"/>
                <a:stretch>
                  <a:fillRect l="-816" r="-816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 14">
            <a:extLst>
              <a:ext uri="{FF2B5EF4-FFF2-40B4-BE49-F238E27FC236}">
                <a16:creationId xmlns:a16="http://schemas.microsoft.com/office/drawing/2014/main" id="{940FEA9A-5668-C185-6F86-CE69D5A54051}"/>
              </a:ext>
            </a:extLst>
          </p:cNvPr>
          <p:cNvSpPr txBox="1"/>
          <p:nvPr/>
        </p:nvSpPr>
        <p:spPr>
          <a:xfrm>
            <a:off x="6558034" y="2983415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changement par rapport au fwelnet : le terme d'erreur quadratique est remplacé par la log-vraisemblance négative de Cox (NLL). Le poids wⱼ(θ)  donc tout le mécanisme de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pondération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reste identique.</a:t>
            </a:r>
            <a:endParaRPr lang="en-US" sz="130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51B0DE5F-D6BB-DC3D-6521-D29C06FF0E4B}"/>
              </a:ext>
            </a:extLst>
          </p:cNvPr>
          <p:cNvSpPr txBox="1"/>
          <p:nvPr/>
        </p:nvSpPr>
        <p:spPr>
          <a:xfrm>
            <a:off x="6774965" y="37245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vraisemblance partielle de Cox</a:t>
            </a:r>
            <a:endParaRPr lang="en-US" sz="1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17">
                <a:extLst>
                  <a:ext uri="{FF2B5EF4-FFF2-40B4-BE49-F238E27FC236}">
                    <a16:creationId xmlns:a16="http://schemas.microsoft.com/office/drawing/2014/main" id="{D148F4A1-E7D1-D9E3-F5B1-21183883A591}"/>
                  </a:ext>
                </a:extLst>
              </p:cNvPr>
              <p:cNvSpPr txBox="1"/>
              <p:nvPr/>
            </p:nvSpPr>
            <p:spPr>
              <a:xfrm>
                <a:off x="6774965" y="4044568"/>
                <a:ext cx="521208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30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𝐿</m:t>
                      </m:r>
                      <m:r>
                        <a:rPr lang="en-US" sz="130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130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𝛽</m:t>
                      </m:r>
                      <m:r>
                        <a:rPr lang="en-US" sz="1300" i="1" dirty="0" smtClean="0">
                          <a:solidFill>
                            <a:srgbClr val="1E276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) = </m:t>
                      </m:r>
                      <m:nary>
                        <m:naryPr>
                          <m:chr m:val="∏"/>
                          <m:ctrlPr>
                            <a:rPr lang="fr-FR" sz="1300" b="0" i="1" dirty="0" smtClean="0">
                              <a:solidFill>
                                <a:srgbClr val="1E2761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300" b="0" i="1" dirty="0" smtClean="0">
                              <a:solidFill>
                                <a:srgbClr val="1E2761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</a:rPr>
                            <m:t>𝑗</m:t>
                          </m:r>
                          <m:r>
                            <m:rPr>
                              <m:brk m:alnAt="23"/>
                            </m:rPr>
                            <a:rPr lang="fr-FR" sz="1300" b="0" i="1" dirty="0" smtClean="0">
                              <a:solidFill>
                                <a:srgbClr val="1E2761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fr-FR" sz="1300" b="0" i="1" dirty="0" smtClean="0">
                              <a:solidFill>
                                <a:srgbClr val="1E2761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fr-FR" sz="1300" b="0" i="1" dirty="0" smtClean="0">
                              <a:solidFill>
                                <a:srgbClr val="1E2761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</a:rPr>
                            <m:t>𝑟</m:t>
                          </m:r>
                        </m:sup>
                        <m:e>
                          <m:f>
                            <m:fPr>
                              <m:ctrlP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exp</m:t>
                              </m:r>
                              <m: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β</m:t>
                              </m:r>
                              <m: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ᵀ</m:t>
                              </m:r>
                              <m:r>
                                <m:rPr>
                                  <m:sty m:val="p"/>
                                </m:rP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x</m:t>
                              </m:r>
                              <m: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₍ⱼ₎)</m:t>
                              </m:r>
                            </m:num>
                            <m:den>
                              <m: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Σ</m:t>
                              </m:r>
                              <m: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_{</m:t>
                              </m:r>
                              <m:r>
                                <m:rPr>
                                  <m:sty m:val="p"/>
                                </m:rP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l</m:t>
                              </m:r>
                              <m: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R</m:t>
                              </m:r>
                              <m: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t</m:t>
                              </m:r>
                              <m: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₍ⱼ₎)} </m:t>
                              </m:r>
                              <m:r>
                                <m:rPr>
                                  <m:sty m:val="p"/>
                                </m:rP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exp</m:t>
                              </m:r>
                              <m: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β</m:t>
                              </m:r>
                              <m: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ᵀ</m:t>
                              </m:r>
                              <m:r>
                                <m:rPr>
                                  <m:sty m:val="p"/>
                                </m:rP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x</m:t>
                              </m:r>
                              <m:r>
                                <a:rPr lang="en-US" sz="1300" dirty="0">
                                  <a:solidFill>
                                    <a:srgbClr val="1E2761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ₗ)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48" name="Text 17">
                <a:extLst>
                  <a:ext uri="{FF2B5EF4-FFF2-40B4-BE49-F238E27FC236}">
                    <a16:creationId xmlns:a16="http://schemas.microsoft.com/office/drawing/2014/main" id="{D148F4A1-E7D1-D9E3-F5B1-21183883A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965" y="4044568"/>
                <a:ext cx="5212080" cy="502920"/>
              </a:xfrm>
              <a:prstGeom prst="rect">
                <a:avLst/>
              </a:prstGeom>
              <a:blipFill>
                <a:blip r:embed="rId9"/>
                <a:stretch>
                  <a:fillRect t="-2410" b="-6024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18">
            <a:extLst>
              <a:ext uri="{FF2B5EF4-FFF2-40B4-BE49-F238E27FC236}">
                <a16:creationId xmlns:a16="http://schemas.microsoft.com/office/drawing/2014/main" id="{A98B0891-B98F-95D6-A792-4BCC2D648E88}"/>
              </a:ext>
            </a:extLst>
          </p:cNvPr>
          <p:cNvSpPr txBox="1"/>
          <p:nvPr/>
        </p:nvSpPr>
        <p:spPr>
          <a:xfrm>
            <a:off x="6774965" y="4593208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R(t₍ⱼ₎)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les patients encore à risque juste avant l'événement j : « lui contre tous les autres candidats à cet instant ».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9BD8FD91-84F9-A1B6-588A-F8AFBBB4E16E}"/>
                  </a:ext>
                </a:extLst>
              </p:cNvPr>
              <p:cNvSpPr txBox="1"/>
              <p:nvPr/>
            </p:nvSpPr>
            <p:spPr>
              <a:xfrm>
                <a:off x="726237" y="3748876"/>
                <a:ext cx="5029200" cy="503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1E276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	w</a:t>
                </a:r>
                <a:r>
                  <a:rPr lang="en-US" dirty="0">
                    <a:solidFill>
                      <a:srgbClr val="FFFFFF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h(t | xᵢ) </a:t>
                </a:r>
                <a:r>
                  <a:rPr lang="en-US" dirty="0">
                    <a:solidFill>
                      <a:srgbClr val="1E276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ⱼ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fr-FR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fr-F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fr-F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fr-F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fr-F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fr-F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fr-F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fr-F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+∆</m:t>
                                </m:r>
                                <m:r>
                                  <a:rPr lang="fr-F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F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  <m:r>
                              <a:rPr lang="fr-F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fr-F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fr-F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</m:t>
                            </m:r>
                          </m:num>
                          <m:den>
                            <m:r>
                              <a:rPr lang="fr-F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fr-F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func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9BD8FD91-84F9-A1B6-588A-F8AFBBB4E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37" y="3748876"/>
                <a:ext cx="5029200" cy="503471"/>
              </a:xfrm>
              <a:prstGeom prst="rect">
                <a:avLst/>
              </a:prstGeom>
              <a:blipFill>
                <a:blip r:embed="rId10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838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2546079" y="1155619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L'ALGORITHME COOPER : DEUX MODÈLES QUI COOPÈRENT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38754" y="1965960"/>
            <a:ext cx="1927406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1638754" y="1965960"/>
            <a:ext cx="192740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cause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(fwcoxnet)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0" y="1965960"/>
            <a:ext cx="2061148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8229600" y="1965960"/>
            <a:ext cx="188126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cause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(fwcoxnet)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2148840"/>
            <a:ext cx="4663440" cy="0"/>
          </a:xfrm>
          <a:prstGeom prst="line">
            <a:avLst/>
          </a:prstGeom>
          <a:noFill/>
          <a:ln w="28575">
            <a:solidFill>
              <a:srgbClr val="16C79A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374904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E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Z₂ = |β₁|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2834640"/>
            <a:ext cx="0" cy="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374904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Z₁ = |β₂|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2461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répète jusqu'à convergence des coefficients (itérations j = 0, 1, 2, ...)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38754" y="3794760"/>
            <a:ext cx="9974126" cy="1417320"/>
          </a:xfrm>
          <a:prstGeom prst="roundRect">
            <a:avLst>
              <a:gd name="adj" fmla="val 5161"/>
            </a:avLst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2023672" y="3794760"/>
            <a:ext cx="9269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centrale 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coefficient réduit à zéro dans le modèle d'une cause reçoit une pénalité </a:t>
            </a:r>
            <a:r>
              <a:rPr lang="en-US" sz="150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forte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cette même variable dans le modèle de l'autre cause — et inversement, un effet </a:t>
            </a:r>
            <a:r>
              <a:rPr lang="en-US" sz="1500" b="1" dirty="0">
                <a:solidFill>
                  <a:srgbClr val="0E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un modèle </a:t>
            </a:r>
            <a:r>
              <a:rPr lang="en-US" sz="1500" b="1" dirty="0">
                <a:solidFill>
                  <a:srgbClr val="0E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protège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variable dans l'autre.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514196" y="5334468"/>
            <a:ext cx="101998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 de sécurité :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aucun effet partagé entre les causes, CooPeR se replie exactement sur le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Coxnet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Classique, il ne peut jamais faire moins bien.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D0778D71-349B-8232-A250-588B54E94F8E}"/>
              </a:ext>
            </a:extLst>
          </p:cNvPr>
          <p:cNvSpPr/>
          <p:nvPr/>
        </p:nvSpPr>
        <p:spPr>
          <a:xfrm rot="5400000" flipH="1">
            <a:off x="-1329507" y="251119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F74C52F7-8C70-DACD-F061-7A3874BDB1E9}"/>
              </a:ext>
            </a:extLst>
          </p:cNvPr>
          <p:cNvSpPr/>
          <p:nvPr/>
        </p:nvSpPr>
        <p:spPr>
          <a:xfrm rot="10733564" flipH="1">
            <a:off x="-687227" y="-124353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3">
            <a:extLst>
              <a:ext uri="{FF2B5EF4-FFF2-40B4-BE49-F238E27FC236}">
                <a16:creationId xmlns:a16="http://schemas.microsoft.com/office/drawing/2014/main" id="{14677731-100E-CBB2-D605-E467EB2075BF}"/>
              </a:ext>
            </a:extLst>
          </p:cNvPr>
          <p:cNvSpPr/>
          <p:nvPr/>
        </p:nvSpPr>
        <p:spPr>
          <a:xfrm flipH="1">
            <a:off x="8080941" y="3457346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10FBB544-A4A4-994D-42BC-4981843D1D97}"/>
              </a:ext>
            </a:extLst>
          </p:cNvPr>
          <p:cNvSpPr txBox="1"/>
          <p:nvPr/>
        </p:nvSpPr>
        <p:spPr>
          <a:xfrm rot="5400000">
            <a:off x="-1272717" y="3356146"/>
            <a:ext cx="3548276" cy="343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800" dirty="0">
                <a:solidFill>
                  <a:srgbClr val="012F7F"/>
                </a:solidFill>
                <a:latin typeface="Arial" panose="020B0604020202020204" pitchFamily="34" charset="0"/>
                <a:ea typeface="ITC Benguiat Bold"/>
                <a:cs typeface="Arial" panose="020B0604020202020204" pitchFamily="34" charset="0"/>
                <a:sym typeface="ITC Benguiat Bold"/>
              </a:rPr>
              <a:t>METHODOLOGIE</a:t>
            </a:r>
          </a:p>
        </p:txBody>
      </p:sp>
      <p:sp>
        <p:nvSpPr>
          <p:cNvPr id="28" name="AutoShape 61">
            <a:extLst>
              <a:ext uri="{FF2B5EF4-FFF2-40B4-BE49-F238E27FC236}">
                <a16:creationId xmlns:a16="http://schemas.microsoft.com/office/drawing/2014/main" id="{E36FED8B-2067-D02E-F8A0-038499D4E2DF}"/>
              </a:ext>
            </a:extLst>
          </p:cNvPr>
          <p:cNvSpPr/>
          <p:nvPr/>
        </p:nvSpPr>
        <p:spPr>
          <a:xfrm rot="5400000">
            <a:off x="-3908280" y="4163181"/>
            <a:ext cx="10003955" cy="1194"/>
          </a:xfrm>
          <a:prstGeom prst="line">
            <a:avLst/>
          </a:prstGeom>
          <a:ln w="57150" cap="flat">
            <a:solidFill>
              <a:srgbClr val="CD76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Group 4">
            <a:extLst>
              <a:ext uri="{FF2B5EF4-FFF2-40B4-BE49-F238E27FC236}">
                <a16:creationId xmlns:a16="http://schemas.microsoft.com/office/drawing/2014/main" id="{70D8952D-A708-34EA-0CD9-2F56550A7635}"/>
              </a:ext>
            </a:extLst>
          </p:cNvPr>
          <p:cNvGrpSpPr/>
          <p:nvPr/>
        </p:nvGrpSpPr>
        <p:grpSpPr>
          <a:xfrm>
            <a:off x="-72018" y="1047397"/>
            <a:ext cx="13288906" cy="91191"/>
            <a:chOff x="0" y="0"/>
            <a:chExt cx="5249938" cy="36026"/>
          </a:xfrm>
        </p:grpSpPr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69115149-58E5-A1A8-0E19-19A54727E722}"/>
                </a:ext>
              </a:extLst>
            </p:cNvPr>
            <p:cNvSpPr/>
            <p:nvPr/>
          </p:nvSpPr>
          <p:spPr>
            <a:xfrm>
              <a:off x="0" y="0"/>
              <a:ext cx="5249938" cy="36026"/>
            </a:xfrm>
            <a:custGeom>
              <a:avLst/>
              <a:gdLst/>
              <a:ahLst/>
              <a:cxnLst/>
              <a:rect l="l" t="t" r="r" b="b"/>
              <a:pathLst>
                <a:path w="5249938" h="36026">
                  <a:moveTo>
                    <a:pt x="0" y="0"/>
                  </a:moveTo>
                  <a:lnTo>
                    <a:pt x="5249938" y="0"/>
                  </a:lnTo>
                  <a:lnTo>
                    <a:pt x="5249938" y="36026"/>
                  </a:lnTo>
                  <a:lnTo>
                    <a:pt x="0" y="36026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/>
            <a:lstStyle/>
            <a:p>
              <a:endParaRPr lang="fr-CM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Box 6">
              <a:extLst>
                <a:ext uri="{FF2B5EF4-FFF2-40B4-BE49-F238E27FC236}">
                  <a16:creationId xmlns:a16="http://schemas.microsoft.com/office/drawing/2014/main" id="{EE1DB11F-A08E-992D-BB45-F9BCFCCC57C5}"/>
                </a:ext>
              </a:extLst>
            </p:cNvPr>
            <p:cNvSpPr txBox="1"/>
            <p:nvPr/>
          </p:nvSpPr>
          <p:spPr>
            <a:xfrm>
              <a:off x="0" y="-38100"/>
              <a:ext cx="5249938" cy="741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A39625BD-F295-9620-EDC6-A30BB5B4E4BA}"/>
              </a:ext>
            </a:extLst>
          </p:cNvPr>
          <p:cNvSpPr txBox="1"/>
          <p:nvPr/>
        </p:nvSpPr>
        <p:spPr>
          <a:xfrm>
            <a:off x="2076138" y="47553"/>
            <a:ext cx="9535545" cy="9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</a:pP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Du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Elastic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Net ,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Feature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weight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Elastic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Net(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fwelnet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) au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Cooperative</a:t>
            </a: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 Penalized </a:t>
            </a:r>
            <a:r>
              <a:rPr lang="fr-FR" sz="2800" dirty="0" err="1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Regression</a:t>
            </a:r>
            <a:endParaRPr lang="fr-FR" sz="2800" dirty="0">
              <a:solidFill>
                <a:schemeClr val="accent6"/>
              </a:solidFill>
              <a:latin typeface="Georgia" panose="02040502050405020303" pitchFamily="18" charset="0"/>
              <a:sym typeface="ITC Benguiat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622186" y="312016"/>
            <a:ext cx="99871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EN GRANDE DIMENSION APPLIQUEE AU RISQUE CONCURRENTS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16569" y="1234440"/>
            <a:ext cx="10638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5000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covariables,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400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5 blocs de structures d'effets </a:t>
            </a:r>
            <a:r>
              <a:rPr lang="en-US" sz="14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différentes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 B1: </a:t>
            </a:r>
            <a:r>
              <a:rPr lang="en-US" sz="14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partagés,  B2 :</a:t>
            </a:r>
            <a:r>
              <a:rPr lang="en-US" sz="14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opposés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B3: disjoints, B4:bruit corrélé, B5: bruit pur),  1000 répétitions.</a:t>
            </a:r>
            <a:endParaRPr lang="en-US" sz="14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 txBox="1"/>
              <p:nvPr/>
            </p:nvSpPr>
            <p:spPr>
              <a:xfrm>
                <a:off x="9163155" y="2444294"/>
                <a:ext cx="2877469" cy="10130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E27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PPV Predictive Positive Value</a:t>
                </a:r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buNone/>
                </a:pPr>
                <a:r>
                  <a:rPr lang="en-US" sz="1600" dirty="0"/>
                  <a:t>PPV=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3155" y="2444294"/>
                <a:ext cx="2877469" cy="1013052"/>
              </a:xfrm>
              <a:prstGeom prst="rect">
                <a:avLst/>
              </a:prstGeom>
              <a:blipFill>
                <a:blip r:embed="rId3"/>
                <a:stretch>
                  <a:fillRect l="-4237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31B34010-0212-0095-4F37-A9249C97E3FC}"/>
              </a:ext>
            </a:extLst>
          </p:cNvPr>
          <p:cNvSpPr/>
          <p:nvPr/>
        </p:nvSpPr>
        <p:spPr>
          <a:xfrm rot="5400000" flipH="1">
            <a:off x="-1329507" y="251119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859790F7-1EB5-C7A5-22AE-ABBB7587A2C3}"/>
              </a:ext>
            </a:extLst>
          </p:cNvPr>
          <p:cNvSpPr/>
          <p:nvPr/>
        </p:nvSpPr>
        <p:spPr>
          <a:xfrm rot="10733564" flipH="1">
            <a:off x="-687227" y="-124353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C3FB2EAF-F58D-41C0-0774-EE5154CA168E}"/>
              </a:ext>
            </a:extLst>
          </p:cNvPr>
          <p:cNvSpPr/>
          <p:nvPr/>
        </p:nvSpPr>
        <p:spPr>
          <a:xfrm flipH="1">
            <a:off x="8080941" y="3457346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6B873A3F-A9DC-4633-8700-ECF82488ABB4}"/>
              </a:ext>
            </a:extLst>
          </p:cNvPr>
          <p:cNvSpPr txBox="1"/>
          <p:nvPr/>
        </p:nvSpPr>
        <p:spPr>
          <a:xfrm rot="5400000">
            <a:off x="-1272717" y="3356146"/>
            <a:ext cx="3548276" cy="343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800" dirty="0">
                <a:solidFill>
                  <a:srgbClr val="012F7F"/>
                </a:solidFill>
                <a:latin typeface="Arial" panose="020B0604020202020204" pitchFamily="34" charset="0"/>
                <a:ea typeface="ITC Benguiat Bold"/>
                <a:cs typeface="Arial" panose="020B0604020202020204" pitchFamily="34" charset="0"/>
                <a:sym typeface="ITC Benguiat Bold"/>
              </a:rPr>
              <a:t>VALIDATION</a:t>
            </a:r>
          </a:p>
        </p:txBody>
      </p:sp>
      <p:sp>
        <p:nvSpPr>
          <p:cNvPr id="22" name="AutoShape 61">
            <a:extLst>
              <a:ext uri="{FF2B5EF4-FFF2-40B4-BE49-F238E27FC236}">
                <a16:creationId xmlns:a16="http://schemas.microsoft.com/office/drawing/2014/main" id="{E510815D-BD4E-44AE-ECF2-2DDA997A56F7}"/>
              </a:ext>
            </a:extLst>
          </p:cNvPr>
          <p:cNvSpPr/>
          <p:nvPr/>
        </p:nvSpPr>
        <p:spPr>
          <a:xfrm rot="5400000">
            <a:off x="-3908280" y="4163181"/>
            <a:ext cx="10003955" cy="1194"/>
          </a:xfrm>
          <a:prstGeom prst="line">
            <a:avLst/>
          </a:prstGeom>
          <a:ln w="57150" cap="flat">
            <a:solidFill>
              <a:srgbClr val="CD76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 4">
            <a:extLst>
              <a:ext uri="{FF2B5EF4-FFF2-40B4-BE49-F238E27FC236}">
                <a16:creationId xmlns:a16="http://schemas.microsoft.com/office/drawing/2014/main" id="{FE344E61-28E5-0FB7-3169-7A6EB53EDDFD}"/>
              </a:ext>
            </a:extLst>
          </p:cNvPr>
          <p:cNvGrpSpPr/>
          <p:nvPr/>
        </p:nvGrpSpPr>
        <p:grpSpPr>
          <a:xfrm>
            <a:off x="-72018" y="1047397"/>
            <a:ext cx="13288906" cy="91191"/>
            <a:chOff x="0" y="0"/>
            <a:chExt cx="5249938" cy="36026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EB3762D5-007B-FC09-5EDA-A1A5A9220154}"/>
                </a:ext>
              </a:extLst>
            </p:cNvPr>
            <p:cNvSpPr/>
            <p:nvPr/>
          </p:nvSpPr>
          <p:spPr>
            <a:xfrm>
              <a:off x="0" y="0"/>
              <a:ext cx="5249938" cy="36026"/>
            </a:xfrm>
            <a:custGeom>
              <a:avLst/>
              <a:gdLst/>
              <a:ahLst/>
              <a:cxnLst/>
              <a:rect l="l" t="t" r="r" b="b"/>
              <a:pathLst>
                <a:path w="5249938" h="36026">
                  <a:moveTo>
                    <a:pt x="0" y="0"/>
                  </a:moveTo>
                  <a:lnTo>
                    <a:pt x="5249938" y="0"/>
                  </a:lnTo>
                  <a:lnTo>
                    <a:pt x="5249938" y="36026"/>
                  </a:lnTo>
                  <a:lnTo>
                    <a:pt x="0" y="36026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/>
            <a:lstStyle/>
            <a:p>
              <a:endParaRPr lang="fr-CM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6">
              <a:extLst>
                <a:ext uri="{FF2B5EF4-FFF2-40B4-BE49-F238E27FC236}">
                  <a16:creationId xmlns:a16="http://schemas.microsoft.com/office/drawing/2014/main" id="{0087DCBA-2CAE-2091-3F0A-5F044ACB56DD}"/>
                </a:ext>
              </a:extLst>
            </p:cNvPr>
            <p:cNvSpPr txBox="1"/>
            <p:nvPr/>
          </p:nvSpPr>
          <p:spPr>
            <a:xfrm>
              <a:off x="0" y="-38100"/>
              <a:ext cx="5249938" cy="741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" name="Image 2" descr="The diagram displays a confusion matrix for various classification methods (B1, B2, B3, CooPeR, Cause 1, Cause 2, Coxnet, RSF, CoxBoost) across different thresholds (0, 25, 50, 75, 100) and their respective PPV percentages.&#10;&#10;Le contenu généré par l’IA peut être incorrect.">
            <a:extLst>
              <a:ext uri="{FF2B5EF4-FFF2-40B4-BE49-F238E27FC236}">
                <a16:creationId xmlns:a16="http://schemas.microsoft.com/office/drawing/2014/main" id="{753BE69C-3B6B-A2A8-6A60-968D60CAE2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2450" y="1995579"/>
            <a:ext cx="7456418" cy="2468473"/>
          </a:xfrm>
          <a:prstGeom prst="rect">
            <a:avLst/>
          </a:prstGeom>
        </p:spPr>
      </p:pic>
      <p:pic>
        <p:nvPicPr>
          <p:cNvPr id="13" name="Image 12" descr="The image is a bar chart depicting different values for various categories, such as B1, B2, B3, B4, Noise, CooPeR, Cause 1, Coxnet, RSF, CoxBoost, and a series of numerical values for FPR (False Positive Rate) in ascending order.&#10;&#10;Le contenu généré par l’IA peut être incorrect.">
            <a:extLst>
              <a:ext uri="{FF2B5EF4-FFF2-40B4-BE49-F238E27FC236}">
                <a16:creationId xmlns:a16="http://schemas.microsoft.com/office/drawing/2014/main" id="{62E41471-27A7-3B76-FAC6-B0BAE3B4D8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2450" y="4543408"/>
            <a:ext cx="7455223" cy="23145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4">
                <a:extLst>
                  <a:ext uri="{FF2B5EF4-FFF2-40B4-BE49-F238E27FC236}">
                    <a16:creationId xmlns:a16="http://schemas.microsoft.com/office/drawing/2014/main" id="{02FA90FB-D613-C36A-5920-12F673C1A7A8}"/>
                  </a:ext>
                </a:extLst>
              </p:cNvPr>
              <p:cNvSpPr txBox="1"/>
              <p:nvPr/>
            </p:nvSpPr>
            <p:spPr>
              <a:xfrm>
                <a:off x="9301404" y="4877500"/>
                <a:ext cx="2877469" cy="9914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E276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FPV False Predictive Value</a:t>
                </a:r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r>
                  <a:rPr lang="en-US" sz="1600" dirty="0"/>
                  <a:t>PPV=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den>
                    </m:f>
                  </m:oMath>
                </a14:m>
                <a:endParaRPr lang="en-US" sz="1350" dirty="0"/>
              </a:p>
              <a:p>
                <a:pPr marL="0" indent="0">
                  <a:buNone/>
                </a:pPr>
                <a:endParaRPr lang="en-US" sz="1350" dirty="0"/>
              </a:p>
            </p:txBody>
          </p:sp>
        </mc:Choice>
        <mc:Fallback xmlns="">
          <p:sp>
            <p:nvSpPr>
              <p:cNvPr id="17" name="Text 4">
                <a:extLst>
                  <a:ext uri="{FF2B5EF4-FFF2-40B4-BE49-F238E27FC236}">
                    <a16:creationId xmlns:a16="http://schemas.microsoft.com/office/drawing/2014/main" id="{02FA90FB-D613-C36A-5920-12F673C1A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1404" y="4877500"/>
                <a:ext cx="2877469" cy="991402"/>
              </a:xfrm>
              <a:prstGeom prst="rect">
                <a:avLst/>
              </a:prstGeom>
              <a:blipFill>
                <a:blip r:embed="rId8"/>
                <a:stretch>
                  <a:fillRect l="-4449" t="-8589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2096374" y="457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RÉELLE : CANCER DE LA VESSIE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86588" y="1234440"/>
            <a:ext cx="102262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patients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(192 censurés, 74 décès du cancer, 33 d'une autre cause)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1385 variables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(expression génique + covariables cliniques). Question : quels effets sont partagés entre les deux causes 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386590" y="2194560"/>
            <a:ext cx="4511290" cy="2788920"/>
          </a:xfrm>
          <a:prstGeom prst="roundRect">
            <a:avLst>
              <a:gd name="adj" fmla="val 2581"/>
            </a:avLst>
          </a:prstGeom>
          <a:solidFill>
            <a:srgbClr val="F5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COXNET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partagé détecté : l'âge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194560"/>
            <a:ext cx="4656694" cy="278892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263640" y="24688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83464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6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0233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partagés : l'âge + 6 gènes (SEQ1176, SEQ1226, SEQ213, SEQ250, SEQ34, SEQ780)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86590" y="5257800"/>
            <a:ext cx="102262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 err="1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r>
              <a:rPr lang="en-US" sz="1300" b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données réelles, pas de vérité terrain, deux de ces gènes (SEQ34, SEQ213) recoupent toutefois des signatures publiées indépendamment (Binder et al. 2009 ; Dyrskjøt et al. 2005).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64720E4D-FB63-3C0D-3C68-A531E49F7F2E}"/>
              </a:ext>
            </a:extLst>
          </p:cNvPr>
          <p:cNvSpPr/>
          <p:nvPr/>
        </p:nvSpPr>
        <p:spPr>
          <a:xfrm rot="5400000" flipH="1">
            <a:off x="-1329507" y="251119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ECC8E43D-1E86-B0E6-227F-A3CE5EF0A684}"/>
              </a:ext>
            </a:extLst>
          </p:cNvPr>
          <p:cNvSpPr/>
          <p:nvPr/>
        </p:nvSpPr>
        <p:spPr>
          <a:xfrm rot="10733564" flipH="1">
            <a:off x="-687227" y="-124353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0E52D0C3-5FCE-4048-A4E3-7D56181A39DB}"/>
              </a:ext>
            </a:extLst>
          </p:cNvPr>
          <p:cNvSpPr/>
          <p:nvPr/>
        </p:nvSpPr>
        <p:spPr>
          <a:xfrm flipH="1">
            <a:off x="8080941" y="3457346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2897859E-119C-9555-05EB-F91A653B018C}"/>
              </a:ext>
            </a:extLst>
          </p:cNvPr>
          <p:cNvGrpSpPr/>
          <p:nvPr/>
        </p:nvGrpSpPr>
        <p:grpSpPr>
          <a:xfrm>
            <a:off x="-72018" y="1047397"/>
            <a:ext cx="13288906" cy="91191"/>
            <a:chOff x="0" y="0"/>
            <a:chExt cx="5249938" cy="36026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5912C31D-1FF6-CE5B-C71E-8E471CB8D9A0}"/>
                </a:ext>
              </a:extLst>
            </p:cNvPr>
            <p:cNvSpPr/>
            <p:nvPr/>
          </p:nvSpPr>
          <p:spPr>
            <a:xfrm>
              <a:off x="0" y="0"/>
              <a:ext cx="5249938" cy="36026"/>
            </a:xfrm>
            <a:custGeom>
              <a:avLst/>
              <a:gdLst/>
              <a:ahLst/>
              <a:cxnLst/>
              <a:rect l="l" t="t" r="r" b="b"/>
              <a:pathLst>
                <a:path w="5249938" h="36026">
                  <a:moveTo>
                    <a:pt x="0" y="0"/>
                  </a:moveTo>
                  <a:lnTo>
                    <a:pt x="5249938" y="0"/>
                  </a:lnTo>
                  <a:lnTo>
                    <a:pt x="5249938" y="36026"/>
                  </a:lnTo>
                  <a:lnTo>
                    <a:pt x="0" y="36026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/>
            <a:lstStyle/>
            <a:p>
              <a:endParaRPr lang="fr-CM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6">
              <a:extLst>
                <a:ext uri="{FF2B5EF4-FFF2-40B4-BE49-F238E27FC236}">
                  <a16:creationId xmlns:a16="http://schemas.microsoft.com/office/drawing/2014/main" id="{D1975D20-6991-603D-9B6C-15C0384CFE1C}"/>
                </a:ext>
              </a:extLst>
            </p:cNvPr>
            <p:cNvSpPr txBox="1"/>
            <p:nvPr/>
          </p:nvSpPr>
          <p:spPr>
            <a:xfrm>
              <a:off x="0" y="-38100"/>
              <a:ext cx="5249938" cy="741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AutoShape 61">
            <a:extLst>
              <a:ext uri="{FF2B5EF4-FFF2-40B4-BE49-F238E27FC236}">
                <a16:creationId xmlns:a16="http://schemas.microsoft.com/office/drawing/2014/main" id="{5E6E2895-30D0-B447-25E3-1388DA56267C}"/>
              </a:ext>
            </a:extLst>
          </p:cNvPr>
          <p:cNvSpPr/>
          <p:nvPr/>
        </p:nvSpPr>
        <p:spPr>
          <a:xfrm rot="5400000">
            <a:off x="-3908280" y="4163181"/>
            <a:ext cx="10003955" cy="1194"/>
          </a:xfrm>
          <a:prstGeom prst="line">
            <a:avLst/>
          </a:prstGeom>
          <a:ln w="57150" cap="flat">
            <a:solidFill>
              <a:srgbClr val="CD76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id="{9AC7B000-F66A-3E5D-23E1-19B0B76497E8}"/>
              </a:ext>
            </a:extLst>
          </p:cNvPr>
          <p:cNvSpPr txBox="1"/>
          <p:nvPr/>
        </p:nvSpPr>
        <p:spPr>
          <a:xfrm rot="5400000">
            <a:off x="-1272717" y="3361212"/>
            <a:ext cx="3548276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800" dirty="0">
                <a:solidFill>
                  <a:srgbClr val="012F7F"/>
                </a:solidFill>
                <a:latin typeface="Arial" panose="020B0604020202020204" pitchFamily="34" charset="0"/>
                <a:ea typeface="ITC Benguiat Bold"/>
                <a:cs typeface="Arial" panose="020B0604020202020204" pitchFamily="34" charset="0"/>
                <a:sym typeface="ITC Benguiat Bold"/>
              </a:rPr>
              <a:t>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17B62-371E-0D8D-5791-21FA9FD7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04E30B0-E5B2-27F7-F2E8-2E160DC31C4C}"/>
              </a:ext>
            </a:extLst>
          </p:cNvPr>
          <p:cNvSpPr txBox="1"/>
          <p:nvPr/>
        </p:nvSpPr>
        <p:spPr>
          <a:xfrm>
            <a:off x="2096374" y="457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ET PERSEPCTIVE</a:t>
            </a:r>
            <a:endParaRPr lang="en-US" sz="2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321F4A8-47C2-8084-70C1-3C49B5CFA084}"/>
              </a:ext>
            </a:extLst>
          </p:cNvPr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06F5D753-1004-7FBF-54A3-B3D674CDF1A0}"/>
              </a:ext>
            </a:extLst>
          </p:cNvPr>
          <p:cNvSpPr/>
          <p:nvPr/>
        </p:nvSpPr>
        <p:spPr>
          <a:xfrm rot="5400000" flipH="1">
            <a:off x="-1329507" y="251119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B45F81CE-2CF4-D443-2799-30D1DF389CA0}"/>
              </a:ext>
            </a:extLst>
          </p:cNvPr>
          <p:cNvSpPr/>
          <p:nvPr/>
        </p:nvSpPr>
        <p:spPr>
          <a:xfrm rot="10733564" flipH="1">
            <a:off x="-687227" y="-124353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D7EE2F5E-925F-B4F8-F044-8AA84EC9B367}"/>
              </a:ext>
            </a:extLst>
          </p:cNvPr>
          <p:cNvSpPr/>
          <p:nvPr/>
        </p:nvSpPr>
        <p:spPr>
          <a:xfrm flipH="1">
            <a:off x="8080941" y="3457346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D6BAFDE1-5E6A-E541-6145-1C35A05DD6D2}"/>
              </a:ext>
            </a:extLst>
          </p:cNvPr>
          <p:cNvGrpSpPr/>
          <p:nvPr/>
        </p:nvGrpSpPr>
        <p:grpSpPr>
          <a:xfrm>
            <a:off x="-72018" y="1047397"/>
            <a:ext cx="13288906" cy="91191"/>
            <a:chOff x="0" y="0"/>
            <a:chExt cx="5249938" cy="36026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1F603754-CD7F-32B0-E751-77B2F11C36A5}"/>
                </a:ext>
              </a:extLst>
            </p:cNvPr>
            <p:cNvSpPr/>
            <p:nvPr/>
          </p:nvSpPr>
          <p:spPr>
            <a:xfrm>
              <a:off x="0" y="0"/>
              <a:ext cx="5249938" cy="36026"/>
            </a:xfrm>
            <a:custGeom>
              <a:avLst/>
              <a:gdLst/>
              <a:ahLst/>
              <a:cxnLst/>
              <a:rect l="l" t="t" r="r" b="b"/>
              <a:pathLst>
                <a:path w="5249938" h="36026">
                  <a:moveTo>
                    <a:pt x="0" y="0"/>
                  </a:moveTo>
                  <a:lnTo>
                    <a:pt x="5249938" y="0"/>
                  </a:lnTo>
                  <a:lnTo>
                    <a:pt x="5249938" y="36026"/>
                  </a:lnTo>
                  <a:lnTo>
                    <a:pt x="0" y="36026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/>
            <a:lstStyle/>
            <a:p>
              <a:endParaRPr lang="fr-CM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6">
              <a:extLst>
                <a:ext uri="{FF2B5EF4-FFF2-40B4-BE49-F238E27FC236}">
                  <a16:creationId xmlns:a16="http://schemas.microsoft.com/office/drawing/2014/main" id="{7D3980FF-F78D-ACBA-7384-6F246AFA5A9A}"/>
                </a:ext>
              </a:extLst>
            </p:cNvPr>
            <p:cNvSpPr txBox="1"/>
            <p:nvPr/>
          </p:nvSpPr>
          <p:spPr>
            <a:xfrm>
              <a:off x="0" y="-38100"/>
              <a:ext cx="5249938" cy="741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AutoShape 61">
            <a:extLst>
              <a:ext uri="{FF2B5EF4-FFF2-40B4-BE49-F238E27FC236}">
                <a16:creationId xmlns:a16="http://schemas.microsoft.com/office/drawing/2014/main" id="{A31C60A8-5A41-C66A-6F4D-A56C76CA6DFB}"/>
              </a:ext>
            </a:extLst>
          </p:cNvPr>
          <p:cNvSpPr/>
          <p:nvPr/>
        </p:nvSpPr>
        <p:spPr>
          <a:xfrm rot="5400000">
            <a:off x="-3908280" y="4163181"/>
            <a:ext cx="10003955" cy="1194"/>
          </a:xfrm>
          <a:prstGeom prst="line">
            <a:avLst/>
          </a:prstGeom>
          <a:ln w="57150" cap="flat">
            <a:solidFill>
              <a:srgbClr val="CD76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M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id="{4BF7810E-731F-0BB7-C8CC-9D7F79D32A88}"/>
              </a:ext>
            </a:extLst>
          </p:cNvPr>
          <p:cNvSpPr txBox="1"/>
          <p:nvPr/>
        </p:nvSpPr>
        <p:spPr>
          <a:xfrm rot="5400000">
            <a:off x="-1272717" y="3361212"/>
            <a:ext cx="3548276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800" dirty="0">
                <a:solidFill>
                  <a:srgbClr val="012F7F"/>
                </a:solidFill>
                <a:latin typeface="Arial" panose="020B0604020202020204" pitchFamily="34" charset="0"/>
                <a:ea typeface="ITC Benguiat Bold"/>
                <a:cs typeface="Arial" panose="020B0604020202020204" pitchFamily="34" charset="0"/>
                <a:sym typeface="ITC Benguiat Bold"/>
              </a:rPr>
              <a:t>CONCLUSION</a:t>
            </a:r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7134F1D6-44EF-9672-CB1D-6D8B2948EEC7}"/>
              </a:ext>
            </a:extLst>
          </p:cNvPr>
          <p:cNvSpPr txBox="1"/>
          <p:nvPr/>
        </p:nvSpPr>
        <p:spPr>
          <a:xfrm>
            <a:off x="1402080" y="1563644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 ne fait jamais moins bien que Coxnet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(repli automatique en l'absence d'effet partagé), et significativement mieux quand un effet est réellement </a:t>
            </a:r>
            <a:r>
              <a:rPr lang="en-US" sz="16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partagé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validé en simulation et sur données réelles.</a:t>
            </a:r>
            <a:endParaRPr lang="en-US" sz="1600" dirty="0"/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7F260625-D637-807E-04FD-81CEEE7821BF}"/>
              </a:ext>
            </a:extLst>
          </p:cNvPr>
          <p:cNvSpPr/>
          <p:nvPr/>
        </p:nvSpPr>
        <p:spPr>
          <a:xfrm>
            <a:off x="1402080" y="2843804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24306E"/>
          </a:solidFill>
          <a:ln w="19050">
            <a:solidFill>
              <a:srgbClr val="16C7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5DDDE3F4-24A7-44EB-6A21-3368DA94618D}"/>
              </a:ext>
            </a:extLst>
          </p:cNvPr>
          <p:cNvSpPr txBox="1"/>
          <p:nvPr/>
        </p:nvSpPr>
        <p:spPr>
          <a:xfrm>
            <a:off x="1402080" y="30266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traité par l'article</a:t>
            </a:r>
            <a:endParaRPr lang="en-US" sz="1150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0DCFB755-4959-BA76-86C1-04E3EAC63A77}"/>
              </a:ext>
            </a:extLst>
          </p:cNvPr>
          <p:cNvSpPr txBox="1"/>
          <p:nvPr/>
        </p:nvSpPr>
        <p:spPr>
          <a:xfrm>
            <a:off x="1539240" y="3529604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Grande dimension</a:t>
            </a:r>
            <a:endParaRPr lang="en-US" sz="1600" dirty="0"/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3E98E80B-4677-B92F-F424-F463387DE127}"/>
              </a:ext>
            </a:extLst>
          </p:cNvPr>
          <p:cNvSpPr/>
          <p:nvPr/>
        </p:nvSpPr>
        <p:spPr>
          <a:xfrm>
            <a:off x="5105400" y="2843804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24306E"/>
          </a:solidFill>
          <a:ln w="19050">
            <a:solidFill>
              <a:srgbClr val="16C7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8">
            <a:extLst>
              <a:ext uri="{FF2B5EF4-FFF2-40B4-BE49-F238E27FC236}">
                <a16:creationId xmlns:a16="http://schemas.microsoft.com/office/drawing/2014/main" id="{AA5047AC-5156-58EA-78FF-299DBE656E63}"/>
              </a:ext>
            </a:extLst>
          </p:cNvPr>
          <p:cNvSpPr txBox="1"/>
          <p:nvPr/>
        </p:nvSpPr>
        <p:spPr>
          <a:xfrm>
            <a:off x="5105400" y="30266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traité par l'article</a:t>
            </a:r>
            <a:endParaRPr lang="en-US" sz="1150" dirty="0"/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AEF73572-3E33-183D-2B95-0333B487BD38}"/>
              </a:ext>
            </a:extLst>
          </p:cNvPr>
          <p:cNvSpPr txBox="1"/>
          <p:nvPr/>
        </p:nvSpPr>
        <p:spPr>
          <a:xfrm>
            <a:off x="5242560" y="3529604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 concurrents</a:t>
            </a:r>
            <a:endParaRPr lang="en-US" sz="160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7ED7A2C1-02A7-6B49-778A-B290BEEDEAD9}"/>
              </a:ext>
            </a:extLst>
          </p:cNvPr>
          <p:cNvSpPr/>
          <p:nvPr/>
        </p:nvSpPr>
        <p:spPr>
          <a:xfrm>
            <a:off x="8808720" y="2843804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2A1F3D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1C771131-6E95-5B8F-2628-6D2B0D002300}"/>
              </a:ext>
            </a:extLst>
          </p:cNvPr>
          <p:cNvSpPr txBox="1"/>
          <p:nvPr/>
        </p:nvSpPr>
        <p:spPr>
          <a:xfrm>
            <a:off x="8808720" y="30266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ouvert — sujet de thèse</a:t>
            </a:r>
            <a:endParaRPr lang="en-US" sz="1150" dirty="0"/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2FD6CD12-9408-24BE-6F20-61E5EA7A65BD}"/>
              </a:ext>
            </a:extLst>
          </p:cNvPr>
          <p:cNvSpPr txBox="1"/>
          <p:nvPr/>
        </p:nvSpPr>
        <p:spPr>
          <a:xfrm>
            <a:off x="8945880" y="3529604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omiques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longitudinales</a:t>
            </a:r>
            <a:endParaRPr lang="en-US" sz="1600" dirty="0"/>
          </a:p>
        </p:txBody>
      </p:sp>
      <p:sp>
        <p:nvSpPr>
          <p:cNvPr id="69" name="Text 13">
            <a:extLst>
              <a:ext uri="{FF2B5EF4-FFF2-40B4-BE49-F238E27FC236}">
                <a16:creationId xmlns:a16="http://schemas.microsoft.com/office/drawing/2014/main" id="{61FA7A14-14EA-839F-A8F3-6C35C5BE86F8}"/>
              </a:ext>
            </a:extLst>
          </p:cNvPr>
          <p:cNvSpPr txBox="1"/>
          <p:nvPr/>
        </p:nvSpPr>
        <p:spPr>
          <a:xfrm>
            <a:off x="1402080" y="485180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 sujet de thèse prolonge directement CooPeR </a:t>
            </a:r>
            <a:r>
              <a:rPr lang="en-US" sz="15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 ajoutant le troisième verrou : des mesures répétées dans le temps sur les mêmes patients, un cadre que cet article ne couvre pas encore.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011295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H="1">
            <a:off x="8099398" y="3447739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/>
          </a:p>
        </p:txBody>
      </p:sp>
      <p:sp>
        <p:nvSpPr>
          <p:cNvPr id="30" name="AutoShape 61">
            <a:extLst>
              <a:ext uri="{FF2B5EF4-FFF2-40B4-BE49-F238E27FC236}">
                <a16:creationId xmlns:a16="http://schemas.microsoft.com/office/drawing/2014/main" id="{5E93A798-958F-F83C-8AF1-D14D761AD76D}"/>
              </a:ext>
            </a:extLst>
          </p:cNvPr>
          <p:cNvSpPr/>
          <p:nvPr/>
        </p:nvSpPr>
        <p:spPr>
          <a:xfrm rot="5400000">
            <a:off x="-3236404" y="4111618"/>
            <a:ext cx="10003955" cy="1194"/>
          </a:xfrm>
          <a:prstGeom prst="line">
            <a:avLst/>
          </a:prstGeom>
          <a:ln w="57150" cap="flat">
            <a:solidFill>
              <a:srgbClr val="CD76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CM" sz="1200" dirty="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EC27D2D5-5AC9-3110-3DB3-E18D785214AD}"/>
              </a:ext>
            </a:extLst>
          </p:cNvPr>
          <p:cNvSpPr/>
          <p:nvPr/>
        </p:nvSpPr>
        <p:spPr>
          <a:xfrm rot="5400000" flipH="1">
            <a:off x="-1329507" y="251119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endParaRPr lang="fr-CM" sz="1200" dirty="0"/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id="{64F74B53-F31B-4D5F-D1A2-4357E7072A5F}"/>
              </a:ext>
            </a:extLst>
          </p:cNvPr>
          <p:cNvGrpSpPr/>
          <p:nvPr/>
        </p:nvGrpSpPr>
        <p:grpSpPr>
          <a:xfrm>
            <a:off x="0" y="1054171"/>
            <a:ext cx="13288906" cy="91191"/>
            <a:chOff x="0" y="0"/>
            <a:chExt cx="5249938" cy="3602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33821C98-B310-E49A-67D7-3256684B3110}"/>
                </a:ext>
              </a:extLst>
            </p:cNvPr>
            <p:cNvSpPr/>
            <p:nvPr/>
          </p:nvSpPr>
          <p:spPr>
            <a:xfrm>
              <a:off x="0" y="0"/>
              <a:ext cx="5249938" cy="36026"/>
            </a:xfrm>
            <a:custGeom>
              <a:avLst/>
              <a:gdLst/>
              <a:ahLst/>
              <a:cxnLst/>
              <a:rect l="l" t="t" r="r" b="b"/>
              <a:pathLst>
                <a:path w="5249938" h="36026">
                  <a:moveTo>
                    <a:pt x="0" y="0"/>
                  </a:moveTo>
                  <a:lnTo>
                    <a:pt x="5249938" y="0"/>
                  </a:lnTo>
                  <a:lnTo>
                    <a:pt x="5249938" y="36026"/>
                  </a:lnTo>
                  <a:lnTo>
                    <a:pt x="0" y="36026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/>
            <a:lstStyle/>
            <a:p>
              <a:endParaRPr lang="fr-CM" sz="1200" dirty="0"/>
            </a:p>
          </p:txBody>
        </p:sp>
        <p:sp>
          <p:nvSpPr>
            <p:cNvPr id="27" name="TextBox 6">
              <a:extLst>
                <a:ext uri="{FF2B5EF4-FFF2-40B4-BE49-F238E27FC236}">
                  <a16:creationId xmlns:a16="http://schemas.microsoft.com/office/drawing/2014/main" id="{F81A1B34-6E5B-2D17-0677-E18D49EB6FBC}"/>
                </a:ext>
              </a:extLst>
            </p:cNvPr>
            <p:cNvSpPr txBox="1"/>
            <p:nvPr/>
          </p:nvSpPr>
          <p:spPr>
            <a:xfrm>
              <a:off x="0" y="-38100"/>
              <a:ext cx="5249938" cy="7412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/>
            </a:p>
          </p:txBody>
        </p:sp>
      </p:grpSp>
      <p:sp>
        <p:nvSpPr>
          <p:cNvPr id="2" name="Freeform 2"/>
          <p:cNvSpPr/>
          <p:nvPr/>
        </p:nvSpPr>
        <p:spPr>
          <a:xfrm rot="10733564" flipH="1">
            <a:off x="-687227" y="-1243530"/>
            <a:ext cx="5318397" cy="4394325"/>
          </a:xfrm>
          <a:custGeom>
            <a:avLst/>
            <a:gdLst/>
            <a:ahLst/>
            <a:cxnLst/>
            <a:rect l="l" t="t" r="r" b="b"/>
            <a:pathLst>
              <a:path w="7977595" h="6591488">
                <a:moveTo>
                  <a:pt x="7977595" y="0"/>
                </a:moveTo>
                <a:lnTo>
                  <a:pt x="0" y="0"/>
                </a:lnTo>
                <a:lnTo>
                  <a:pt x="0" y="6591488"/>
                </a:lnTo>
                <a:lnTo>
                  <a:pt x="7977595" y="6591488"/>
                </a:lnTo>
                <a:lnTo>
                  <a:pt x="79775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CM" sz="1200" dirty="0"/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812A1279-CC5C-EDD9-B5A9-8B459282C9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rot="5400000">
            <a:off x="712788" y="1283297"/>
            <a:ext cx="837030" cy="1038751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C5D4E8DD-86F0-6946-D1FA-9B5DA98B08F0}"/>
              </a:ext>
            </a:extLst>
          </p:cNvPr>
          <p:cNvSpPr txBox="1"/>
          <p:nvPr/>
        </p:nvSpPr>
        <p:spPr>
          <a:xfrm>
            <a:off x="-2143979" y="28470025"/>
            <a:ext cx="8371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sz="600" dirty="0">
                <a:hlinkClick r:id="rId6" tooltip="https://freepngimg.com/png/14614-presentation-download-png"/>
              </a:rPr>
              <a:t>Cette photo</a:t>
            </a:r>
            <a:r>
              <a:rPr lang="fr-CM" sz="600" dirty="0"/>
              <a:t> par Auteur inconnu est soumise à la licence </a:t>
            </a:r>
            <a:r>
              <a:rPr lang="fr-CM" sz="600" dirty="0">
                <a:hlinkClick r:id="rId7" tooltip="https://creativecommons.org/licenses/by-nc/3.0/"/>
              </a:rPr>
              <a:t>CC BY-NC</a:t>
            </a:r>
            <a:endParaRPr lang="fr-CM" sz="600" dirty="0"/>
          </a:p>
        </p:txBody>
      </p:sp>
      <p:sp>
        <p:nvSpPr>
          <p:cNvPr id="53" name="TextBox 17">
            <a:extLst>
              <a:ext uri="{FF2B5EF4-FFF2-40B4-BE49-F238E27FC236}">
                <a16:creationId xmlns:a16="http://schemas.microsoft.com/office/drawing/2014/main" id="{DAB87F34-E647-4310-5559-5B18C71A02B2}"/>
              </a:ext>
            </a:extLst>
          </p:cNvPr>
          <p:cNvSpPr txBox="1"/>
          <p:nvPr/>
        </p:nvSpPr>
        <p:spPr>
          <a:xfrm rot="5400000">
            <a:off x="-891960" y="4170659"/>
            <a:ext cx="3898435" cy="343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800" dirty="0">
                <a:solidFill>
                  <a:srgbClr val="012F7F"/>
                </a:solidFill>
                <a:latin typeface="Georgia" panose="02040502050405020303" pitchFamily="18" charset="0"/>
                <a:cs typeface="Arial" panose="020B0604020202020204" pitchFamily="34" charset="0"/>
                <a:sym typeface="ITC Benguiat Bold"/>
              </a:rPr>
              <a:t>INTRODUCTION</a:t>
            </a:r>
            <a:endParaRPr lang="en-US" sz="3000" dirty="0">
              <a:solidFill>
                <a:srgbClr val="012F7F"/>
              </a:solidFill>
              <a:latin typeface="Georgia" panose="02040502050405020303" pitchFamily="18" charset="0"/>
              <a:cs typeface="Arial" panose="020B0604020202020204" pitchFamily="34" charset="0"/>
              <a:sym typeface="ITC Benguiat Bold"/>
            </a:endParaRPr>
          </a:p>
        </p:txBody>
      </p:sp>
      <p:sp>
        <p:nvSpPr>
          <p:cNvPr id="45" name="TextBox 17">
            <a:extLst>
              <a:ext uri="{FF2B5EF4-FFF2-40B4-BE49-F238E27FC236}">
                <a16:creationId xmlns:a16="http://schemas.microsoft.com/office/drawing/2014/main" id="{76C4CC7C-7854-4976-8C61-A121F7548B22}"/>
              </a:ext>
            </a:extLst>
          </p:cNvPr>
          <p:cNvSpPr txBox="1"/>
          <p:nvPr/>
        </p:nvSpPr>
        <p:spPr>
          <a:xfrm>
            <a:off x="2186619" y="1297042"/>
            <a:ext cx="9920706" cy="60321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640"/>
              </a:lnSpc>
              <a:buFont typeface="Wingdings" panose="05000000000000000000" pitchFamily="2" charset="2"/>
              <a:buChar char="q"/>
            </a:pPr>
            <a:r>
              <a:rPr lang="fr-FR" sz="2000" dirty="0">
                <a:latin typeface="Georgia" panose="02040502050405020303" pitchFamily="18" charset="0"/>
                <a:sym typeface="ITC Benguiat Bold"/>
              </a:rPr>
              <a:t>Première revue de la littérature méthodologique:</a:t>
            </a:r>
          </a:p>
          <a:p>
            <a:pPr marL="742950" lvl="1" indent="-285750">
              <a:lnSpc>
                <a:spcPts val="264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fr-FR" sz="2000" dirty="0">
                <a:latin typeface="Georgia" panose="02040502050405020303" pitchFamily="18" charset="0"/>
                <a:sym typeface="ITC Benguiat Bold"/>
              </a:rPr>
              <a:t>Fu et al. 2017: </a:t>
            </a:r>
            <a:r>
              <a:rPr lang="en-US" sz="2000" dirty="0">
                <a:latin typeface="Georgia" panose="02040502050405020303" pitchFamily="18" charset="0"/>
                <a:sym typeface="ITC Benguiat Bold"/>
              </a:rPr>
              <a:t>Penalized variable selection in competing risks regression</a:t>
            </a:r>
          </a:p>
          <a:p>
            <a:pPr marL="742950" lvl="1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sz="2000" dirty="0">
                <a:latin typeface="Georgia" panose="02040502050405020303" pitchFamily="18" charset="0"/>
                <a:sym typeface="ITC Benguiat Bold"/>
              </a:rPr>
              <a:t> </a:t>
            </a:r>
            <a:r>
              <a:rPr lang="fr-FR" sz="2000" dirty="0">
                <a:latin typeface="Georgia" panose="02040502050405020303" pitchFamily="18" charset="0"/>
              </a:rPr>
              <a:t>Ishwaran et al. </a:t>
            </a:r>
            <a:r>
              <a:rPr lang="fr-FR" sz="2000" dirty="0">
                <a:latin typeface="Georgia" panose="02040502050405020303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2008</a:t>
            </a:r>
            <a:r>
              <a:rPr lang="en-US" sz="2000" dirty="0">
                <a:latin typeface="Georgia" panose="02040502050405020303" pitchFamily="18" charset="0"/>
                <a:sym typeface="ITC Benguiat Bold"/>
              </a:rPr>
              <a:t>: Random survival forests</a:t>
            </a:r>
          </a:p>
          <a:p>
            <a:pPr marL="742950" lvl="1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fr-FR" sz="2000" dirty="0">
                <a:latin typeface="Georgia" panose="02040502050405020303" pitchFamily="18" charset="0"/>
              </a:rPr>
              <a:t> Binder et al.</a:t>
            </a:r>
            <a:r>
              <a:rPr lang="fr-FR" sz="2000" dirty="0">
                <a:latin typeface="Georgia" panose="02040502050405020303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2009</a:t>
            </a:r>
            <a:r>
              <a:rPr lang="fr-FR" sz="2000" dirty="0">
                <a:latin typeface="Georgia" panose="02040502050405020303" pitchFamily="18" charset="0"/>
              </a:rPr>
              <a:t> : </a:t>
            </a:r>
            <a:r>
              <a:rPr lang="fr-FR" sz="2000" dirty="0" err="1">
                <a:latin typeface="Georgia" panose="02040502050405020303" pitchFamily="18" charset="0"/>
              </a:rPr>
              <a:t>Boosting</a:t>
            </a:r>
            <a:r>
              <a:rPr lang="fr-FR" sz="2000" dirty="0">
                <a:latin typeface="Georgia" panose="02040502050405020303" pitchFamily="18" charset="0"/>
              </a:rPr>
              <a:t> for High-</a:t>
            </a:r>
            <a:r>
              <a:rPr lang="fr-FR" sz="2000" dirty="0" err="1">
                <a:latin typeface="Georgia" panose="02040502050405020303" pitchFamily="18" charset="0"/>
              </a:rPr>
              <a:t>Dimensional</a:t>
            </a:r>
            <a:r>
              <a:rPr lang="fr-FR" sz="2000" dirty="0">
                <a:latin typeface="Georgia" panose="02040502050405020303" pitchFamily="18" charset="0"/>
              </a:rPr>
              <a:t> Time-to-Event Data With </a:t>
            </a:r>
            <a:r>
              <a:rPr lang="fr-FR" sz="2000" dirty="0" err="1">
                <a:latin typeface="Georgia" panose="02040502050405020303" pitchFamily="18" charset="0"/>
              </a:rPr>
              <a:t>Competing</a:t>
            </a:r>
            <a:r>
              <a:rPr lang="fr-FR" sz="2000" dirty="0">
                <a:latin typeface="Georgia" panose="02040502050405020303" pitchFamily="18" charset="0"/>
              </a:rPr>
              <a:t> Risks.</a:t>
            </a:r>
            <a:endParaRPr lang="fr-FR" sz="2000" dirty="0">
              <a:latin typeface="Georgia" panose="02040502050405020303" pitchFamily="18" charset="0"/>
              <a:sym typeface="ITC Benguiat Bold"/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fr-FR" sz="2000" dirty="0">
                <a:latin typeface="Georgia" panose="02040502050405020303" pitchFamily="18" charset="0"/>
                <a:sym typeface="ITC Benguiat Bold"/>
              </a:rPr>
              <a:t>Choix porté sur Burk and al. 2025 : </a:t>
            </a:r>
            <a:r>
              <a:rPr lang="fr-FR" sz="2000" dirty="0">
                <a:latin typeface="Georgia" panose="02040502050405020303" pitchFamily="18" charset="0"/>
              </a:rPr>
              <a:t>High-</a:t>
            </a:r>
            <a:r>
              <a:rPr lang="fr-FR" sz="2000" dirty="0" err="1">
                <a:latin typeface="Georgia" panose="02040502050405020303" pitchFamily="18" charset="0"/>
              </a:rPr>
              <a:t>Dimensional</a:t>
            </a:r>
            <a:r>
              <a:rPr lang="fr-FR" sz="2000" dirty="0">
                <a:latin typeface="Georgia" panose="02040502050405020303" pitchFamily="18" charset="0"/>
              </a:rPr>
              <a:t> Variable </a:t>
            </a:r>
            <a:r>
              <a:rPr lang="fr-FR" sz="2000" dirty="0" err="1">
                <a:latin typeface="Georgia" panose="02040502050405020303" pitchFamily="18" charset="0"/>
              </a:rPr>
              <a:t>Selection</a:t>
            </a:r>
            <a:r>
              <a:rPr lang="fr-FR" sz="2000" dirty="0">
                <a:latin typeface="Georgia" panose="02040502050405020303" pitchFamily="18" charset="0"/>
              </a:rPr>
              <a:t> With </a:t>
            </a:r>
            <a:r>
              <a:rPr lang="fr-FR" sz="2000" dirty="0" err="1">
                <a:latin typeface="Georgia" panose="02040502050405020303" pitchFamily="18" charset="0"/>
              </a:rPr>
              <a:t>Competing</a:t>
            </a:r>
            <a:r>
              <a:rPr lang="fr-FR" sz="2000" dirty="0">
                <a:latin typeface="Georgia" panose="02040502050405020303" pitchFamily="18" charset="0"/>
              </a:rPr>
              <a:t> Events </a:t>
            </a:r>
            <a:r>
              <a:rPr lang="fr-FR" sz="2000" dirty="0" err="1">
                <a:latin typeface="Georgia" panose="02040502050405020303" pitchFamily="18" charset="0"/>
              </a:rPr>
              <a:t>Using</a:t>
            </a:r>
            <a:r>
              <a:rPr lang="fr-FR" sz="2000" dirty="0">
                <a:latin typeface="Georgia" panose="02040502050405020303" pitchFamily="18" charset="0"/>
              </a:rPr>
              <a:t> </a:t>
            </a:r>
            <a:r>
              <a:rPr lang="fr-FR" sz="2000" dirty="0" err="1">
                <a:latin typeface="Georgia" panose="02040502050405020303" pitchFamily="18" charset="0"/>
              </a:rPr>
              <a:t>Cooperative</a:t>
            </a:r>
            <a:r>
              <a:rPr lang="fr-FR" sz="2000" dirty="0">
                <a:latin typeface="Georgia" panose="02040502050405020303" pitchFamily="18" charset="0"/>
              </a:rPr>
              <a:t> Penalized </a:t>
            </a:r>
            <a:r>
              <a:rPr lang="fr-FR" sz="2000" dirty="0" err="1">
                <a:latin typeface="Georgia" panose="02040502050405020303" pitchFamily="18" charset="0"/>
              </a:rPr>
              <a:t>Regression</a:t>
            </a:r>
            <a:endParaRPr lang="fr-FR" sz="2000" dirty="0">
              <a:latin typeface="Georgia" panose="02040502050405020303" pitchFamily="18" charset="0"/>
            </a:endParaRPr>
          </a:p>
          <a:p>
            <a:pPr marL="1257300" lvl="2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fr-FR" sz="2000" dirty="0">
                <a:latin typeface="Georgia" panose="02040502050405020303" pitchFamily="18" charset="0"/>
              </a:rPr>
              <a:t>S'inscrit dans la lignée directe des travaux fondateurs de Fu et al.(2017)</a:t>
            </a:r>
          </a:p>
          <a:p>
            <a:pPr marL="1257300" lvl="2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fr-FR" sz="2000" dirty="0">
                <a:latin typeface="Georgia" panose="02040502050405020303" pitchFamily="18" charset="0"/>
              </a:rPr>
              <a:t>Extension explicitement au cadre de la grande dimension </a:t>
            </a:r>
          </a:p>
          <a:p>
            <a:pPr marL="1257300" lvl="2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fr-FR" sz="2000" dirty="0">
                <a:latin typeface="Georgia" panose="02040502050405020303" pitchFamily="18" charset="0"/>
              </a:rPr>
              <a:t> résolvant un problème que le cadre initial ne traitait pas : le partage d'information entre les modèles cause-spécifiques.</a:t>
            </a:r>
          </a:p>
          <a:p>
            <a:pPr marL="1257300" lvl="2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fr-FR" sz="2000" dirty="0">
                <a:latin typeface="Georgia" panose="02040502050405020303" pitchFamily="18" charset="0"/>
              </a:rPr>
              <a:t>Validation de la méthode comparativement aux autres méthodes (Ishwaran et al. </a:t>
            </a:r>
            <a:r>
              <a:rPr lang="fr-FR" sz="2000" dirty="0">
                <a:latin typeface="Georgia" panose="02040502050405020303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2008</a:t>
            </a:r>
            <a:r>
              <a:rPr lang="fr-FR" sz="2000" dirty="0">
                <a:latin typeface="Georgia" panose="02040502050405020303" pitchFamily="18" charset="0"/>
              </a:rPr>
              <a:t>; Binder et al.</a:t>
            </a:r>
            <a:r>
              <a:rPr lang="fr-FR" sz="2000" dirty="0">
                <a:latin typeface="Georgia" panose="02040502050405020303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2009</a:t>
            </a:r>
            <a:r>
              <a:rPr lang="fr-FR" sz="2000" dirty="0">
                <a:latin typeface="Georgia" panose="02040502050405020303" pitchFamily="18" charset="0"/>
              </a:rPr>
              <a:t> )</a:t>
            </a:r>
          </a:p>
          <a:p>
            <a:pPr marL="1257300" lvl="2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fr-FR" sz="2000" b="1" dirty="0">
              <a:latin typeface="Georgia" panose="02040502050405020303" pitchFamily="18" charset="0"/>
              <a:sym typeface="Wingdings" panose="05000000000000000000" pitchFamily="2" charset="2"/>
            </a:endParaRPr>
          </a:p>
          <a:p>
            <a:pPr algn="just">
              <a:lnSpc>
                <a:spcPts val="2640"/>
              </a:lnSpc>
            </a:pPr>
            <a:endParaRPr lang="en-US" sz="2000" dirty="0">
              <a:solidFill>
                <a:srgbClr val="000000"/>
              </a:solidFill>
              <a:latin typeface="Bree Serif"/>
              <a:sym typeface="ITC Benguiat Bold"/>
            </a:endParaRPr>
          </a:p>
        </p:txBody>
      </p:sp>
      <p:sp>
        <p:nvSpPr>
          <p:cNvPr id="46" name="TextBox 13">
            <a:extLst>
              <a:ext uri="{FF2B5EF4-FFF2-40B4-BE49-F238E27FC236}">
                <a16:creationId xmlns:a16="http://schemas.microsoft.com/office/drawing/2014/main" id="{2851843E-954E-4BCF-B65D-4FD9AC7A946D}"/>
              </a:ext>
            </a:extLst>
          </p:cNvPr>
          <p:cNvSpPr txBox="1"/>
          <p:nvPr/>
        </p:nvSpPr>
        <p:spPr>
          <a:xfrm>
            <a:off x="4398618" y="379850"/>
            <a:ext cx="5898968" cy="410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fr-FR" sz="2800" dirty="0">
                <a:solidFill>
                  <a:schemeClr val="accent6"/>
                </a:solidFill>
                <a:latin typeface="Georgia" panose="02040502050405020303" pitchFamily="18" charset="0"/>
                <a:sym typeface="ITC Benguiat Bold"/>
              </a:rPr>
              <a:t>Pourquoi ce choix de l’article ?</a:t>
            </a:r>
            <a:endParaRPr lang="en-US" sz="2800" dirty="0">
              <a:solidFill>
                <a:schemeClr val="accent6"/>
              </a:solidFill>
              <a:latin typeface="Georgia" panose="02040502050405020303" pitchFamily="18" charset="0"/>
              <a:sym typeface="ITC Benguiat Bold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AB53B3-4BD9-9FC3-3681-ABE91B3B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7091-84B4-4BFC-9E12-327F477830A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18108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22017</TotalTime>
  <Words>1352</Words>
  <Application>Microsoft Office PowerPoint</Application>
  <PresentationFormat>Grand écran</PresentationFormat>
  <Paragraphs>145</Paragraphs>
  <Slides>11</Slides>
  <Notes>11</Notes>
  <HiddenSlides>1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0" baseType="lpstr">
      <vt:lpstr>Arial</vt:lpstr>
      <vt:lpstr>Bree Serif</vt:lpstr>
      <vt:lpstr>Calibri</vt:lpstr>
      <vt:lpstr>Calibri Light</vt:lpstr>
      <vt:lpstr>Cambria</vt:lpstr>
      <vt:lpstr>Cambria Math</vt:lpstr>
      <vt:lpstr>Georgia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ELIE Kouldjim</dc:creator>
  <cp:lastModifiedBy>Kouldjim ELIE</cp:lastModifiedBy>
  <cp:revision>180</cp:revision>
  <dcterms:created xsi:type="dcterms:W3CDTF">2026-07-13T12:00:57Z</dcterms:created>
  <dcterms:modified xsi:type="dcterms:W3CDTF">2026-09-15T09:07:32Z</dcterms:modified>
</cp:coreProperties>
</file>